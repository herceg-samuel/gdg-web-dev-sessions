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kzidenz-Grotesk Bold" charset="1" panose="02000803050000020004"/>
      <p:regular r:id="rId23"/>
    </p:embeddedFont>
    <p:embeddedFont>
      <p:font typeface="Open Sans" charset="1" panose="00000000000000000000"/>
      <p:regular r:id="rId24"/>
    </p:embeddedFont>
    <p:embeddedFont>
      <p:font typeface="IBM Plex Mono Bold" charset="1" panose="020B0809050203000203"/>
      <p:regular r:id="rId25"/>
    </p:embeddedFont>
    <p:embeddedFont>
      <p:font typeface="IBM Plex Mono" charset="1" panose="020B0509050203000203"/>
      <p:regular r:id="rId26"/>
    </p:embeddedFont>
    <p:embeddedFont>
      <p:font typeface="Open Sans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4000500" cy="10287000"/>
            <a:chOff x="0" y="0"/>
            <a:chExt cx="533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20">
                <a:alpha val="6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33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0600" y="1571625"/>
            <a:ext cx="838200" cy="76200"/>
            <a:chOff x="0" y="0"/>
            <a:chExt cx="11176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7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17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" y="1990725"/>
            <a:ext cx="9334500" cy="237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8"/>
              </a:lnSpc>
            </a:pPr>
            <a:r>
              <a:rPr lang="en-US" sz="84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CSS Foundations</a:t>
            </a:r>
          </a:p>
          <a:p>
            <a:pPr algn="l">
              <a:lnSpc>
                <a:spcPts val="8568"/>
              </a:lnSpc>
            </a:pPr>
            <a:r>
              <a:rPr lang="en-US" sz="84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&amp; Mechanics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4905375"/>
            <a:ext cx="762000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7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From Syntax to Responsive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7820025"/>
            <a:ext cx="476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2" b="true">
                <a:solidFill>
                  <a:srgbClr val="C7F36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OCTOBER 26,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11906250" cy="83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Three ways CSS meets HTML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514475"/>
            <a:ext cx="11430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Choose by scope: one element, one document, or an entire site.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809875"/>
            <a:ext cx="4762500" cy="5619750"/>
            <a:chOff x="0" y="0"/>
            <a:chExt cx="6350000" cy="7493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7493000"/>
              <a:chOff x="0" y="0"/>
              <a:chExt cx="6350000" cy="7493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30200" y="669925"/>
              <a:ext cx="5461000" cy="2511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&lt;html&gt;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&lt;head&gt;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&lt;/head&gt;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&lt;body&gt;…&lt;/body&gt;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&lt;/html&gt;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1250" y="2857500"/>
            <a:ext cx="3333750" cy="2381250"/>
            <a:chOff x="0" y="0"/>
            <a:chExt cx="4445000" cy="317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3109686"/>
                  </a:lnTo>
                  <a:cubicBezTo>
                    <a:pt x="4445000" y="3127008"/>
                    <a:pt x="4438119" y="3143621"/>
                    <a:pt x="4425870" y="3155870"/>
                  </a:cubicBezTo>
                  <a:cubicBezTo>
                    <a:pt x="4413621" y="3168119"/>
                    <a:pt x="4397008" y="3175000"/>
                    <a:pt x="4379686" y="3175000"/>
                  </a:cubicBezTo>
                  <a:lnTo>
                    <a:pt x="65314" y="3175000"/>
                  </a:lnTo>
                  <a:cubicBezTo>
                    <a:pt x="47992" y="3175000"/>
                    <a:pt x="31379" y="3168119"/>
                    <a:pt x="19130" y="3155870"/>
                  </a:cubicBezTo>
                  <a:cubicBezTo>
                    <a:pt x="6881" y="3143621"/>
                    <a:pt x="0" y="3127008"/>
                    <a:pt x="0" y="3109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4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1250" y="2857500"/>
            <a:ext cx="3333750" cy="2381250"/>
            <a:chOff x="0" y="0"/>
            <a:chExt cx="4445000" cy="317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3109686"/>
                  </a:lnTo>
                  <a:cubicBezTo>
                    <a:pt x="4445000" y="3127008"/>
                    <a:pt x="4438119" y="3143621"/>
                    <a:pt x="4425870" y="3155870"/>
                  </a:cubicBezTo>
                  <a:cubicBezTo>
                    <a:pt x="4413621" y="3168119"/>
                    <a:pt x="4397008" y="3175000"/>
                    <a:pt x="4379686" y="3175000"/>
                  </a:cubicBezTo>
                  <a:lnTo>
                    <a:pt x="65314" y="3175000"/>
                  </a:lnTo>
                  <a:cubicBezTo>
                    <a:pt x="47992" y="3175000"/>
                    <a:pt x="31379" y="3168119"/>
                    <a:pt x="19130" y="3155870"/>
                  </a:cubicBezTo>
                  <a:cubicBezTo>
                    <a:pt x="6881" y="3143621"/>
                    <a:pt x="0" y="3127008"/>
                    <a:pt x="0" y="3109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44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INTERNAL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11250" y="2857500"/>
            <a:ext cx="3333750" cy="2381250"/>
            <a:chOff x="0" y="0"/>
            <a:chExt cx="4445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3109686"/>
                  </a:lnTo>
                  <a:cubicBezTo>
                    <a:pt x="4445000" y="3127008"/>
                    <a:pt x="4438119" y="3143621"/>
                    <a:pt x="4425870" y="3155870"/>
                  </a:cubicBezTo>
                  <a:cubicBezTo>
                    <a:pt x="4413621" y="3168119"/>
                    <a:pt x="4397008" y="3175000"/>
                    <a:pt x="4379686" y="3175000"/>
                  </a:cubicBezTo>
                  <a:lnTo>
                    <a:pt x="65314" y="3175000"/>
                  </a:lnTo>
                  <a:cubicBezTo>
                    <a:pt x="47992" y="3175000"/>
                    <a:pt x="31379" y="3168119"/>
                    <a:pt x="19130" y="3155870"/>
                  </a:cubicBezTo>
                  <a:cubicBezTo>
                    <a:pt x="6881" y="3143621"/>
                    <a:pt x="0" y="3127008"/>
                    <a:pt x="0" y="3109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44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EXTERNAL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5334000" y="4048125"/>
            <a:ext cx="857250" cy="428625"/>
          </a:xfrm>
          <a:prstGeom prst="line">
            <a:avLst/>
          </a:prstGeom>
          <a:ln cap="rnd" w="38100">
            <a:solidFill>
              <a:srgbClr val="FF7A6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5334000" y="4048125"/>
            <a:ext cx="4667250" cy="904875"/>
          </a:xfrm>
          <a:prstGeom prst="line">
            <a:avLst/>
          </a:prstGeom>
          <a:ln cap="rnd" w="38100">
            <a:solidFill>
              <a:srgbClr val="66D9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V="true">
            <a:off x="5334000" y="4048125"/>
            <a:ext cx="8477250" cy="1381125"/>
          </a:xfrm>
          <a:prstGeom prst="line">
            <a:avLst/>
          </a:prstGeom>
          <a:ln cap="rnd" w="38100">
            <a:solidFill>
              <a:srgbClr val="151B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1" id="21"/>
          <p:cNvSpPr txBox="true"/>
          <p:nvPr/>
        </p:nvSpPr>
        <p:spPr>
          <a:xfrm rot="0">
            <a:off x="6448425" y="3292187"/>
            <a:ext cx="285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Fast, local override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0" y="3292187"/>
            <a:ext cx="285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Page-level rules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0" y="3292187"/>
            <a:ext cx="285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Reusable + cacheable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0" y="5791200"/>
            <a:ext cx="285750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style="color: …"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77500" y="5791200"/>
            <a:ext cx="3143250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&lt;style&gt; … &lt;/style&gt;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7500" y="5781675"/>
            <a:ext cx="314325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&lt;link rel="stylesheet"&gt;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47700"/>
            <a:ext cx="13335000" cy="83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Read a CSS ruleset like a sentence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095500"/>
            <a:ext cx="16306800" cy="3714750"/>
            <a:chOff x="0" y="0"/>
            <a:chExt cx="21742400" cy="495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424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51C3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424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28750" y="2400300"/>
            <a:ext cx="1543050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0"/>
              </a:lnSpc>
            </a:pPr>
            <a:r>
              <a:rPr lang="en-US" sz="54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.card  {  color  :  coral  ;  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3886200"/>
            <a:ext cx="28575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SELECTOR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what to target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91250" y="3886200"/>
            <a:ext cx="28575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PROPERTY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what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0" y="3886200"/>
            <a:ext cx="28575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how it changes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809750" y="3714750"/>
            <a:ext cx="2286000" cy="0"/>
          </a:xfrm>
          <a:prstGeom prst="line">
            <a:avLst/>
          </a:prstGeom>
          <a:ln cap="flat" w="47625">
            <a:solidFill>
              <a:srgbClr val="FF7A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619875" y="3714750"/>
            <a:ext cx="2809875" cy="0"/>
          </a:xfrm>
          <a:prstGeom prst="line">
            <a:avLst/>
          </a:prstGeom>
          <a:ln cap="flat" w="47625">
            <a:solidFill>
              <a:srgbClr val="66D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668000" y="3714750"/>
            <a:ext cx="2952750" cy="0"/>
          </a:xfrm>
          <a:prstGeom prst="line">
            <a:avLst/>
          </a:prstGeom>
          <a:ln cap="flat" w="47625">
            <a:solidFill>
              <a:srgbClr val="C7F3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90600" y="6572250"/>
            <a:ext cx="3200400" cy="1238250"/>
            <a:chOff x="0" y="0"/>
            <a:chExt cx="4267200" cy="1651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202A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30200" y="488950"/>
              <a:ext cx="3937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7F36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  element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24350" y="6572250"/>
            <a:ext cx="3200400" cy="1238250"/>
            <a:chOff x="0" y="0"/>
            <a:chExt cx="4267200" cy="1651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202A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30200" y="488950"/>
              <a:ext cx="3937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7F36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.card  class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58100" y="6572250"/>
            <a:ext cx="3200400" cy="1238250"/>
            <a:chOff x="0" y="0"/>
            <a:chExt cx="4267200" cy="1651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202A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30200" y="488950"/>
              <a:ext cx="3937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7F36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#hero  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91850" y="6572250"/>
            <a:ext cx="3200400" cy="1238250"/>
            <a:chOff x="0" y="0"/>
            <a:chExt cx="4267200" cy="1651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202A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30200" y="488950"/>
              <a:ext cx="3937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7F36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h1, h2  group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325600" y="6572250"/>
            <a:ext cx="3200400" cy="1238250"/>
            <a:chOff x="0" y="0"/>
            <a:chExt cx="4267200" cy="1651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191000" cy="1651000"/>
              <a:chOff x="0" y="0"/>
              <a:chExt cx="4191000" cy="1651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19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202A4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419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30200" y="488950"/>
              <a:ext cx="3937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C7F36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*  universal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4500" y="2857500"/>
            <a:ext cx="7429500" cy="914400"/>
            <a:chOff x="0" y="0"/>
            <a:chExt cx="9906000" cy="12192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763000" cy="1219200"/>
              <a:chOff x="0" y="0"/>
              <a:chExt cx="8763000" cy="12192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763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763000">
                    <a:moveTo>
                      <a:pt x="0" y="0"/>
                    </a:moveTo>
                    <a:lnTo>
                      <a:pt x="8763000" y="0"/>
                    </a:lnTo>
                    <a:lnTo>
                      <a:pt x="8763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FF7A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763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81000" y="333375"/>
              <a:ext cx="787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INLINE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366000" y="352425"/>
              <a:ext cx="254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1,0,0,0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" y="4095750"/>
            <a:ext cx="7429500" cy="914400"/>
            <a:chOff x="0" y="0"/>
            <a:chExt cx="9906000" cy="12192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985000" cy="1219200"/>
              <a:chOff x="0" y="0"/>
              <a:chExt cx="6985000" cy="1219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85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6985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F6B75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6985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333375"/>
              <a:ext cx="787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366000" y="352425"/>
              <a:ext cx="254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0,1,0,0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4500" y="5334000"/>
            <a:ext cx="7429500" cy="914400"/>
            <a:chOff x="0" y="0"/>
            <a:chExt cx="9906000" cy="12192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207000" cy="1219200"/>
              <a:chOff x="0" y="0"/>
              <a:chExt cx="5207000" cy="1219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207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66D9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207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333375"/>
              <a:ext cx="787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CLASS · ATTRIBUTE · :PSEUDO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366000" y="352425"/>
              <a:ext cx="254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0,0,1,0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4500" y="6572250"/>
            <a:ext cx="7429500" cy="914400"/>
            <a:chOff x="0" y="0"/>
            <a:chExt cx="9906000" cy="12192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429000" cy="1219200"/>
              <a:chOff x="0" y="0"/>
              <a:chExt cx="3429000" cy="1219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4290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solidFill>
                <a:srgbClr val="C7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429000" cy="1257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1000" y="333375"/>
              <a:ext cx="7874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ELEMENT · ::PSEUDO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366000" y="352425"/>
              <a:ext cx="254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0,0,0,1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90600" y="676275"/>
            <a:ext cx="142875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When rules collide, the cascade decides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0" y="1543050"/>
            <a:ext cx="13811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First compare importance and origin. Then specificity. If still tied, the later rule wins.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8858250" y="2857500"/>
            <a:ext cx="0" cy="4714875"/>
          </a:xfrm>
          <a:prstGeom prst="line">
            <a:avLst/>
          </a:prstGeom>
          <a:ln cap="rnd" w="38100">
            <a:solidFill>
              <a:srgbClr val="151B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9" id="29"/>
          <p:cNvSpPr txBox="true"/>
          <p:nvPr/>
        </p:nvSpPr>
        <p:spPr>
          <a:xfrm rot="0">
            <a:off x="9334500" y="8058150"/>
            <a:ext cx="74295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F7A6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!important skips the normal conversation — use it only as a deliberate escape hatch.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33350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Some values flow down the family tree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28750" y="2571750"/>
            <a:ext cx="2857500" cy="952500"/>
            <a:chOff x="0" y="0"/>
            <a:chExt cx="3810000" cy="127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193800"/>
                  </a:lnTo>
                  <a:cubicBezTo>
                    <a:pt x="3810000" y="1235884"/>
                    <a:pt x="3775884" y="1270000"/>
                    <a:pt x="3733800" y="1270000"/>
                  </a:cubicBezTo>
                  <a:lnTo>
                    <a:pt x="76200" y="1270000"/>
                  </a:lnTo>
                  <a:cubicBezTo>
                    <a:pt x="34116" y="1270000"/>
                    <a:pt x="0" y="1235884"/>
                    <a:pt x="0" y="119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body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53000" y="4000500"/>
            <a:ext cx="3238500" cy="952500"/>
            <a:chOff x="0" y="0"/>
            <a:chExt cx="4318000" cy="127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8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4318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1202765"/>
                  </a:lnTo>
                  <a:cubicBezTo>
                    <a:pt x="4318000" y="1239898"/>
                    <a:pt x="4287898" y="1270000"/>
                    <a:pt x="4250765" y="1270000"/>
                  </a:cubicBezTo>
                  <a:lnTo>
                    <a:pt x="67235" y="1270000"/>
                  </a:lnTo>
                  <a:cubicBezTo>
                    <a:pt x="30102" y="1270000"/>
                    <a:pt x="0" y="1239898"/>
                    <a:pt x="0" y="1202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18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article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77250" y="5429250"/>
            <a:ext cx="2667000" cy="952500"/>
            <a:chOff x="0" y="0"/>
            <a:chExt cx="3556000" cy="127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188357"/>
                  </a:lnTo>
                  <a:cubicBezTo>
                    <a:pt x="3556000" y="1233447"/>
                    <a:pt x="3519447" y="1270000"/>
                    <a:pt x="3474357" y="1270000"/>
                  </a:cubicBezTo>
                  <a:lnTo>
                    <a:pt x="81643" y="1270000"/>
                  </a:lnTo>
                  <a:cubicBezTo>
                    <a:pt x="36553" y="1270000"/>
                    <a:pt x="0" y="1233447"/>
                    <a:pt x="0" y="1188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5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286250" y="3048000"/>
            <a:ext cx="666750" cy="1428750"/>
          </a:xfrm>
          <a:prstGeom prst="line">
            <a:avLst/>
          </a:prstGeom>
          <a:ln cap="rnd" w="38100">
            <a:solidFill>
              <a:srgbClr val="C7F36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8191500" y="4476750"/>
            <a:ext cx="285750" cy="1428750"/>
          </a:xfrm>
          <a:prstGeom prst="line">
            <a:avLst/>
          </a:prstGeom>
          <a:ln cap="rnd" w="38100">
            <a:solidFill>
              <a:srgbClr val="C7F36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1906250" y="2828925"/>
            <a:ext cx="4762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INHERITS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color · font-family · visibility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06250" y="5686425"/>
            <a:ext cx="47625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STAYS LOCAL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margin · padding · border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7200900"/>
            <a:ext cx="762000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body { color: cyan; }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article { border: 2px solid; }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p { color: inherit; 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42875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Every element is a box — in four layers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95500" y="2190750"/>
            <a:ext cx="8382000" cy="6667500"/>
            <a:chOff x="0" y="0"/>
            <a:chExt cx="11176000" cy="889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76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DDD5C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176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33750" y="3143250"/>
            <a:ext cx="5905500" cy="4762500"/>
            <a:chOff x="0" y="0"/>
            <a:chExt cx="7874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7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74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19625" y="4095750"/>
            <a:ext cx="3333750" cy="2857500"/>
            <a:chOff x="0" y="0"/>
            <a:chExt cx="4445000" cy="381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45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19750" y="4953000"/>
            <a:ext cx="5334000" cy="1428750"/>
            <a:chOff x="0" y="0"/>
            <a:chExt cx="7112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51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11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71750" y="2543175"/>
            <a:ext cx="238125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MARGIN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05250" y="3495675"/>
            <a:ext cx="238125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BORDER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38750" y="4448175"/>
            <a:ext cx="238125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PADDING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39000" y="5286375"/>
            <a:ext cx="38100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9500" y="4076700"/>
            <a:ext cx="5238750" cy="28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total width = content + padding + border + margin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47700"/>
            <a:ext cx="13335000" cy="83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Control space. Control sizing.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2333625"/>
            <a:ext cx="5715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7F3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MARGIN COLLAPSE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2924175"/>
            <a:ext cx="619125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Adjacent vertical margins combine.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The larger margin wins — they do not add.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4000" y="4953000"/>
            <a:ext cx="4572000" cy="1143000"/>
            <a:chOff x="0" y="0"/>
            <a:chExt cx="6096000" cy="152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9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9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4000" y="7048500"/>
            <a:ext cx="4572000" cy="1143000"/>
            <a:chOff x="0" y="0"/>
            <a:chExt cx="6096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09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810000" y="6191250"/>
            <a:ext cx="0" cy="762000"/>
          </a:xfrm>
          <a:prstGeom prst="line">
            <a:avLst/>
          </a:prstGeom>
          <a:ln cap="rnd" w="38100">
            <a:solidFill>
              <a:srgbClr val="C7F36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0001250" y="2352675"/>
            <a:ext cx="66675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box-sizing: border-box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0" y="3619500"/>
            <a:ext cx="3143250" cy="2381250"/>
            <a:chOff x="0" y="0"/>
            <a:chExt cx="4191000" cy="317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191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11250" y="3619500"/>
            <a:ext cx="3143250" cy="2381250"/>
            <a:chOff x="0" y="0"/>
            <a:chExt cx="4191000" cy="317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191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82250" y="4095750"/>
            <a:ext cx="2190750" cy="1428750"/>
            <a:chOff x="0" y="0"/>
            <a:chExt cx="2921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02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21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0" y="4095750"/>
            <a:ext cx="2190750" cy="1428750"/>
            <a:chOff x="0" y="0"/>
            <a:chExt cx="29210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21000">
                  <a:moveTo>
                    <a:pt x="0" y="0"/>
                  </a:moveTo>
                  <a:lnTo>
                    <a:pt x="2921000" y="0"/>
                  </a:lnTo>
                  <a:lnTo>
                    <a:pt x="2921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0B102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921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810750" y="6629400"/>
            <a:ext cx="34290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content-box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width + padding + border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11250" y="6629400"/>
            <a:ext cx="34290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border-box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width includes everything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3143250"/>
            <a:ext cx="7334250" cy="704850"/>
            <a:chOff x="0" y="0"/>
            <a:chExt cx="9779000" cy="939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7874000" y="0"/>
              <a:ext cx="1905000" cy="939800"/>
              <a:chOff x="0" y="0"/>
              <a:chExt cx="1905000" cy="939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05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FF7A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9050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2349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coral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4381500"/>
            <a:ext cx="7334250" cy="704850"/>
            <a:chOff x="0" y="0"/>
            <a:chExt cx="9779000" cy="939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7874000" y="0"/>
              <a:ext cx="1905000" cy="939800"/>
              <a:chOff x="0" y="0"/>
              <a:chExt cx="1905000" cy="939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05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66D9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9050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2349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#66d9ef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5619750"/>
            <a:ext cx="7334250" cy="704850"/>
            <a:chOff x="0" y="0"/>
            <a:chExt cx="9779000" cy="939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7874000" y="0"/>
              <a:ext cx="1905000" cy="939800"/>
              <a:chOff x="0" y="0"/>
              <a:chExt cx="1905000" cy="939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05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C7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9050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2349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rgb(199 243 107)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6858000"/>
            <a:ext cx="7334250" cy="704850"/>
            <a:chOff x="0" y="0"/>
            <a:chExt cx="9779000" cy="9398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7874000" y="0"/>
              <a:ext cx="1905000" cy="939800"/>
              <a:chOff x="0" y="0"/>
              <a:chExt cx="1905000" cy="939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05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554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9050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234950"/>
              <a:ext cx="6604000" cy="39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151B2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hsl(247 100% 64%)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90600" y="647700"/>
            <a:ext cx="12382500" cy="83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Color speaks. Units scale.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600" y="215265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66708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COLOR FORMATS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0" y="2152650"/>
            <a:ext cx="61912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66708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MEASUREMENT SYSTEMS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0" y="3105150"/>
            <a:ext cx="619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px  precise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0" y="4105275"/>
            <a:ext cx="619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em  parent-relative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0" y="5105400"/>
            <a:ext cx="619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rem  root-relative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0" y="6105525"/>
            <a:ext cx="619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%  container-relative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0" y="7105650"/>
            <a:ext cx="619125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vw / vh  viewport-relative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42875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Typography is a system, not a font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238375"/>
            <a:ext cx="8953500" cy="5334000"/>
            <a:chOff x="0" y="0"/>
            <a:chExt cx="11938000" cy="71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38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51C3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938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43000" y="2552700"/>
            <a:ext cx="9334500" cy="194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Make every line</a:t>
            </a:r>
          </a:p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earn its space.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39500" y="2828925"/>
            <a:ext cx="5715000" cy="150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Readable type combines family, size, weight, line-height, letter-spacing and alignment. Use web-safe fallbacks; load external fonts thoughtfully.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39500" y="5772150"/>
            <a:ext cx="4762500" cy="211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font-family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font-size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font-weight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line-height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letter-spacing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text-align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857500"/>
            <a:ext cx="3714750" cy="4762500"/>
            <a:chOff x="0" y="0"/>
            <a:chExt cx="4953000" cy="6350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81000" y="803275"/>
              <a:ext cx="4191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BLOCK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1000" y="4933950"/>
              <a:ext cx="419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151B2B"/>
                  </a:solidFill>
                  <a:latin typeface="Open Sans"/>
                  <a:ea typeface="Open Sans"/>
                  <a:cs typeface="Open Sans"/>
                  <a:sym typeface="Open Sans"/>
                </a:rPr>
                <a:t>new line · fills width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635000" y="2413000"/>
              <a:ext cx="3683000" cy="609600"/>
              <a:chOff x="0" y="0"/>
              <a:chExt cx="3683000" cy="6096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830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66D9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6830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35000" y="3238500"/>
              <a:ext cx="3683000" cy="609600"/>
              <a:chOff x="0" y="0"/>
              <a:chExt cx="3683000" cy="609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830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solidFill>
                <a:srgbClr val="66D9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683000" cy="647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5238750" y="2857500"/>
            <a:ext cx="3714750" cy="4762500"/>
            <a:chOff x="0" y="0"/>
            <a:chExt cx="4953000" cy="6350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1000" y="803275"/>
              <a:ext cx="4191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INLINE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000" y="4933950"/>
              <a:ext cx="419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151B2B"/>
                  </a:solidFill>
                  <a:latin typeface="Open Sans"/>
                  <a:ea typeface="Open Sans"/>
                  <a:cs typeface="Open Sans"/>
                  <a:sym typeface="Open Sans"/>
                </a:rPr>
                <a:t>shares a text line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635000" y="2540000"/>
              <a:ext cx="1016000" cy="508000"/>
              <a:chOff x="0" y="0"/>
              <a:chExt cx="1016000" cy="508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1016000">
                    <a:moveTo>
                      <a:pt x="0" y="0"/>
                    </a:moveTo>
                    <a:lnTo>
                      <a:pt x="1016000" y="0"/>
                    </a:lnTo>
                    <a:lnTo>
                      <a:pt x="1016000" y="508000"/>
                    </a:lnTo>
                    <a:lnTo>
                      <a:pt x="0" y="508000"/>
                    </a:lnTo>
                    <a:close/>
                  </a:path>
                </a:pathLst>
              </a:custGeom>
              <a:solidFill>
                <a:srgbClr val="FF7A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16000" cy="54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841500" y="2540000"/>
              <a:ext cx="1651000" cy="508000"/>
              <a:chOff x="0" y="0"/>
              <a:chExt cx="1651000" cy="50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651000" cy="508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" w="1651000">
                    <a:moveTo>
                      <a:pt x="0" y="0"/>
                    </a:moveTo>
                    <a:lnTo>
                      <a:pt x="1651000" y="0"/>
                    </a:lnTo>
                    <a:lnTo>
                      <a:pt x="1651000" y="508000"/>
                    </a:lnTo>
                    <a:lnTo>
                      <a:pt x="0" y="508000"/>
                    </a:lnTo>
                    <a:close/>
                  </a:path>
                </a:pathLst>
              </a:custGeom>
              <a:solidFill>
                <a:srgbClr val="FF7A6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651000" cy="54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9334500" y="2857500"/>
            <a:ext cx="3714750" cy="4762500"/>
            <a:chOff x="0" y="0"/>
            <a:chExt cx="4953000" cy="6350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81000" y="803275"/>
              <a:ext cx="4191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INLINE-BLOCK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81000" y="4924425"/>
              <a:ext cx="4191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151B2B"/>
                  </a:solidFill>
                  <a:latin typeface="Open Sans"/>
                  <a:ea typeface="Open Sans"/>
                  <a:cs typeface="Open Sans"/>
                  <a:sym typeface="Open Sans"/>
                </a:rPr>
                <a:t>flows inline · keeps dimensions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698500" y="2159000"/>
              <a:ext cx="1524000" cy="1524000"/>
              <a:chOff x="0" y="0"/>
              <a:chExt cx="1524000" cy="1524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C7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476500" y="2159000"/>
              <a:ext cx="1524000" cy="1524000"/>
              <a:chOff x="0" y="0"/>
              <a:chExt cx="1524000" cy="1524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C7F3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3430250" y="2857500"/>
            <a:ext cx="3714750" cy="4762500"/>
            <a:chOff x="0" y="0"/>
            <a:chExt cx="4953000" cy="63500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953000" cy="6350000"/>
              <a:chOff x="0" y="0"/>
              <a:chExt cx="4953000" cy="6350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953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4953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1000" y="803275"/>
              <a:ext cx="4191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NONE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81000" y="4933950"/>
              <a:ext cx="419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151B2B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removed from layout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90600" y="647700"/>
            <a:ext cx="1476375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Normal flow is the browser’s default rhythm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0600" y="1495425"/>
            <a:ext cx="14763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Block elements stack. Inline elements run with text. Inline-block keeps a box in the line. none removes the box.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857500"/>
            <a:ext cx="2571750" cy="1619250"/>
            <a:chOff x="0" y="0"/>
            <a:chExt cx="3429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074333"/>
                  </a:lnTo>
                  <a:cubicBezTo>
                    <a:pt x="3429000" y="2121093"/>
                    <a:pt x="3391093" y="2159000"/>
                    <a:pt x="3344333" y="2159000"/>
                  </a:cubicBezTo>
                  <a:lnTo>
                    <a:pt x="84667" y="2159000"/>
                  </a:lnTo>
                  <a:cubicBezTo>
                    <a:pt x="37907" y="2159000"/>
                    <a:pt x="0" y="2121093"/>
                    <a:pt x="0" y="2074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429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STATIC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 normal 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6750" y="3714750"/>
            <a:ext cx="2571750" cy="1619250"/>
            <a:chOff x="0" y="0"/>
            <a:chExt cx="3429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074333"/>
                  </a:lnTo>
                  <a:cubicBezTo>
                    <a:pt x="3429000" y="2121093"/>
                    <a:pt x="3391093" y="2159000"/>
                    <a:pt x="3344333" y="2159000"/>
                  </a:cubicBezTo>
                  <a:lnTo>
                    <a:pt x="84667" y="2159000"/>
                  </a:lnTo>
                  <a:cubicBezTo>
                    <a:pt x="37907" y="2159000"/>
                    <a:pt x="0" y="2121093"/>
                    <a:pt x="0" y="2074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429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RELATIVE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offset from itself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05750" y="2571750"/>
            <a:ext cx="3429000" cy="1619250"/>
            <a:chOff x="0" y="0"/>
            <a:chExt cx="4572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095500"/>
                  </a:lnTo>
                  <a:cubicBezTo>
                    <a:pt x="4572000" y="2130570"/>
                    <a:pt x="4543570" y="2159000"/>
                    <a:pt x="4508500" y="2159000"/>
                  </a:cubicBezTo>
                  <a:lnTo>
                    <a:pt x="63500" y="2159000"/>
                  </a:lnTo>
                  <a:cubicBezTo>
                    <a:pt x="28430" y="2159000"/>
                    <a:pt x="0" y="2130570"/>
                    <a:pt x="0" y="2095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572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ABSOLUTE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nearest positioned ancestor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06250" y="3429000"/>
            <a:ext cx="2571750" cy="1619250"/>
            <a:chOff x="0" y="0"/>
            <a:chExt cx="3429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074333"/>
                  </a:lnTo>
                  <a:cubicBezTo>
                    <a:pt x="3429000" y="2121093"/>
                    <a:pt x="3391093" y="2159000"/>
                    <a:pt x="3344333" y="2159000"/>
                  </a:cubicBezTo>
                  <a:lnTo>
                    <a:pt x="84667" y="2159000"/>
                  </a:lnTo>
                  <a:cubicBezTo>
                    <a:pt x="37907" y="2159000"/>
                    <a:pt x="0" y="2121093"/>
                    <a:pt x="0" y="2074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429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FIXED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viewport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73250" y="2381250"/>
            <a:ext cx="2571750" cy="1619250"/>
            <a:chOff x="0" y="0"/>
            <a:chExt cx="3429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074333"/>
                  </a:lnTo>
                  <a:cubicBezTo>
                    <a:pt x="3429000" y="2121093"/>
                    <a:pt x="3391093" y="2159000"/>
                    <a:pt x="3344333" y="2159000"/>
                  </a:cubicBezTo>
                  <a:lnTo>
                    <a:pt x="84667" y="2159000"/>
                  </a:lnTo>
                  <a:cubicBezTo>
                    <a:pt x="37907" y="2159000"/>
                    <a:pt x="0" y="2121093"/>
                    <a:pt x="0" y="2074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429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STICKY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flow → threshold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0600" y="647700"/>
            <a:ext cx="1476375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Positioning changes the frame of reference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0500" y="1485900"/>
            <a:ext cx="5334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top · right · bottom · left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52500" y="7239000"/>
            <a:ext cx="16383000" cy="0"/>
          </a:xfrm>
          <a:prstGeom prst="line">
            <a:avLst/>
          </a:prstGeom>
          <a:ln cap="flat" w="38100">
            <a:solidFill>
              <a:srgbClr val="3A4565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762625" y="5334000"/>
            <a:ext cx="809625" cy="85725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>
            <a:off x="9620250" y="4191000"/>
            <a:ext cx="0" cy="247650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5716250" cy="76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z-index only makes sense inside a stacking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504950"/>
            <a:ext cx="1428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New contexts can be created by positioned elements, opacity, transforms and more. Children cannot escape their parent context.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38500" y="4762500"/>
            <a:ext cx="6191250" cy="3238500"/>
            <a:chOff x="0" y="0"/>
            <a:chExt cx="8255000" cy="431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55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255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0" y="3429000"/>
            <a:ext cx="6191250" cy="3238500"/>
            <a:chOff x="0" y="0"/>
            <a:chExt cx="8255000" cy="431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55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55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91500" y="2095500"/>
            <a:ext cx="6191250" cy="3238500"/>
            <a:chOff x="0" y="0"/>
            <a:chExt cx="8255000" cy="431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55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550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095750" y="6543675"/>
            <a:ext cx="2476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z-index: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250" y="5210175"/>
            <a:ext cx="2476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z-index: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48750" y="3876675"/>
            <a:ext cx="2476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z-index: 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47700"/>
            <a:ext cx="14287500" cy="79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Flexbox aligns along one primary axis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2533650"/>
            <a:ext cx="619125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display: flex;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justify-content: space-between;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align-items: center;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905750" y="2381250"/>
            <a:ext cx="8763000" cy="5143500"/>
            <a:chOff x="0" y="0"/>
            <a:chExt cx="11684000" cy="685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51C3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6840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0" y="4286250"/>
            <a:ext cx="1428750" cy="1428750"/>
            <a:chOff x="0" y="0"/>
            <a:chExt cx="1905000" cy="190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ITEM 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25125" y="4810125"/>
            <a:ext cx="1428750" cy="1428750"/>
            <a:chOff x="0" y="0"/>
            <a:chExt cx="1905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ITEM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77750" y="4286250"/>
            <a:ext cx="1428750" cy="1428750"/>
            <a:chOff x="0" y="0"/>
            <a:chExt cx="1905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ITEM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30375" y="4810125"/>
            <a:ext cx="1428750" cy="1428750"/>
            <a:chOff x="0" y="0"/>
            <a:chExt cx="1905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B102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ITEM 4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572500" y="3810000"/>
            <a:ext cx="7143750" cy="0"/>
          </a:xfrm>
          <a:prstGeom prst="line">
            <a:avLst/>
          </a:prstGeom>
          <a:ln cap="rnd" w="38100">
            <a:solidFill>
              <a:srgbClr val="C7F36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V="true">
            <a:off x="16192500" y="3143250"/>
            <a:ext cx="0" cy="3524250"/>
          </a:xfrm>
          <a:prstGeom prst="line">
            <a:avLst/>
          </a:prstGeom>
          <a:ln cap="rnd" w="38100">
            <a:solidFill>
              <a:srgbClr val="66D9E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1" id="21"/>
          <p:cNvSpPr txBox="true"/>
          <p:nvPr/>
        </p:nvSpPr>
        <p:spPr>
          <a:xfrm rot="0">
            <a:off x="8858250" y="3114675"/>
            <a:ext cx="2857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C7F3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AXIS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01750" y="6162675"/>
            <a:ext cx="2857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66D9E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 AXIS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8248650"/>
            <a:ext cx="15716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container → flex-direction · flex-wrap · justify-content · align-items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items → flex-grow · flex-shrink · flex-basis · align-self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33350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Grid designs in rows and columns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0" y="2543175"/>
            <a:ext cx="6477000" cy="9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grid-template-columns: repeat(3, 1fr);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gap: 24px;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grid-template-areas: 'hero hero side';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0" y="5686425"/>
            <a:ext cx="619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51B2B"/>
                </a:solidFill>
                <a:latin typeface="Open Sans"/>
                <a:ea typeface="Open Sans"/>
                <a:cs typeface="Open Sans"/>
                <a:sym typeface="Open Sans"/>
              </a:rPr>
              <a:t>fr shares free space · minmax() adds resilience · grid-column and grid-row place items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2476500"/>
            <a:ext cx="5715000" cy="2476500"/>
            <a:chOff x="0" y="0"/>
            <a:chExt cx="7620000" cy="330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00">
                  <a:moveTo>
                    <a:pt x="38100" y="0"/>
                  </a:moveTo>
                  <a:lnTo>
                    <a:pt x="7581900" y="0"/>
                  </a:lnTo>
                  <a:cubicBezTo>
                    <a:pt x="7602942" y="0"/>
                    <a:pt x="7620000" y="17058"/>
                    <a:pt x="7620000" y="38100"/>
                  </a:cubicBezTo>
                  <a:lnTo>
                    <a:pt x="7620000" y="3263900"/>
                  </a:lnTo>
                  <a:cubicBezTo>
                    <a:pt x="7620000" y="3284942"/>
                    <a:pt x="7602942" y="3302000"/>
                    <a:pt x="7581900" y="3302000"/>
                  </a:cubicBezTo>
                  <a:lnTo>
                    <a:pt x="38100" y="3302000"/>
                  </a:lnTo>
                  <a:cubicBezTo>
                    <a:pt x="17058" y="3302000"/>
                    <a:pt x="0" y="3284942"/>
                    <a:pt x="0" y="326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2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HERO · span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86600" y="2476500"/>
            <a:ext cx="2857500" cy="2476500"/>
            <a:chOff x="0" y="0"/>
            <a:chExt cx="3810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225800"/>
                  </a:lnTo>
                  <a:cubicBezTo>
                    <a:pt x="3810000" y="3267884"/>
                    <a:pt x="3775884" y="3302000"/>
                    <a:pt x="3733800" y="3302000"/>
                  </a:cubicBezTo>
                  <a:lnTo>
                    <a:pt x="76200" y="3302000"/>
                  </a:lnTo>
                  <a:cubicBezTo>
                    <a:pt x="34116" y="3302000"/>
                    <a:pt x="0" y="3267884"/>
                    <a:pt x="0" y="322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SIDE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5181600"/>
            <a:ext cx="2857500" cy="2476500"/>
            <a:chOff x="0" y="0"/>
            <a:chExt cx="3810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225800"/>
                  </a:lnTo>
                  <a:cubicBezTo>
                    <a:pt x="3810000" y="3267884"/>
                    <a:pt x="3775884" y="3302000"/>
                    <a:pt x="3733800" y="3302000"/>
                  </a:cubicBezTo>
                  <a:lnTo>
                    <a:pt x="76200" y="3302000"/>
                  </a:lnTo>
                  <a:cubicBezTo>
                    <a:pt x="34116" y="3302000"/>
                    <a:pt x="0" y="3267884"/>
                    <a:pt x="0" y="322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151B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29100" y="5181600"/>
            <a:ext cx="5715000" cy="2476500"/>
            <a:chOff x="0" y="0"/>
            <a:chExt cx="7620000" cy="330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620000">
                  <a:moveTo>
                    <a:pt x="38100" y="0"/>
                  </a:moveTo>
                  <a:lnTo>
                    <a:pt x="7581900" y="0"/>
                  </a:lnTo>
                  <a:cubicBezTo>
                    <a:pt x="7602942" y="0"/>
                    <a:pt x="7620000" y="17058"/>
                    <a:pt x="7620000" y="38100"/>
                  </a:cubicBezTo>
                  <a:lnTo>
                    <a:pt x="7620000" y="3263900"/>
                  </a:lnTo>
                  <a:cubicBezTo>
                    <a:pt x="7620000" y="3284942"/>
                    <a:pt x="7602942" y="3302000"/>
                    <a:pt x="7581900" y="3302000"/>
                  </a:cubicBezTo>
                  <a:lnTo>
                    <a:pt x="38100" y="3302000"/>
                  </a:lnTo>
                  <a:cubicBezTo>
                    <a:pt x="17058" y="3302000"/>
                    <a:pt x="0" y="3284942"/>
                    <a:pt x="0" y="326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CONTENT · span 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42875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Choose by dimension, not by habit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095500"/>
            <a:ext cx="7620000" cy="5334000"/>
            <a:chOff x="0" y="0"/>
            <a:chExt cx="10160000" cy="711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51C3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77400" y="2095500"/>
            <a:ext cx="7620000" cy="5334000"/>
            <a:chOff x="0" y="0"/>
            <a:chExt cx="10160000" cy="711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202A45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9250" y="2562225"/>
            <a:ext cx="6191250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FLEXBOX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0" y="2562225"/>
            <a:ext cx="6191250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405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GRID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9250" y="3676650"/>
            <a:ext cx="6191250" cy="155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ONE DIMENSION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Content-led alignment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Navigation · toolbars · rows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Excellent distribution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0" y="3676650"/>
            <a:ext cx="6191250" cy="1555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TWO DIMENSIONS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Structure-led layout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Dashboards · galleries · pages</a:t>
            </a:r>
          </a:p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Explicit placement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8500" y="8248650"/>
            <a:ext cx="11811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C7F3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both. Grid for macro layout; Flexbox inside components.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57225"/>
            <a:ext cx="15716250" cy="76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950" b="true">
                <a:solidFill>
                  <a:srgbClr val="151B2B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Design fluidly. Add breakpoints only when needed.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0" y="2828925"/>
            <a:ext cx="7239000" cy="212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&lt;meta name="viewport" content="width=device-width"&gt;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img { max-width: 100%; }</a:t>
            </a:r>
          </a:p>
          <a:p>
            <a:pPr algn="l">
              <a:lnSpc>
                <a:spcPts val="2430"/>
              </a:lnSpc>
            </a:pP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@media (min-width: 48rem) {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  .layout { grid-template-columns: 1fr 2fr; }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151B2B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8715375"/>
            <a:ext cx="1571625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51B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Mobile-first · flexible media · fluid type with clamp() · content-driven breakpoints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8250" y="3429000"/>
            <a:ext cx="2286000" cy="4095750"/>
            <a:chOff x="0" y="0"/>
            <a:chExt cx="3048000" cy="546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80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151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480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09700" y="3667125"/>
            <a:ext cx="1943100" cy="3619500"/>
            <a:chOff x="0" y="0"/>
            <a:chExt cx="2590800" cy="48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08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C7F3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08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95750" y="2952750"/>
            <a:ext cx="3429000" cy="4572000"/>
            <a:chOff x="0" y="0"/>
            <a:chExt cx="4572000" cy="609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51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572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67200" y="3190875"/>
            <a:ext cx="3086100" cy="4095750"/>
            <a:chOff x="0" y="0"/>
            <a:chExt cx="4114800" cy="546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8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148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05750" y="2381250"/>
            <a:ext cx="1143000" cy="5143500"/>
            <a:chOff x="0" y="0"/>
            <a:chExt cx="1524000" cy="685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51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240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077200" y="2619375"/>
            <a:ext cx="800100" cy="4667250"/>
            <a:chOff x="0" y="0"/>
            <a:chExt cx="1066800" cy="622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6800" cy="6223000"/>
            </a:xfrm>
            <a:custGeom>
              <a:avLst/>
              <a:gdLst/>
              <a:ahLst/>
              <a:cxnLst/>
              <a:rect r="r" b="b" t="t" l="l"/>
              <a:pathLst>
                <a:path h="62230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6223000"/>
                  </a:lnTo>
                  <a:lnTo>
                    <a:pt x="0" y="6223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6800" cy="626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250" y="2286000"/>
            <a:ext cx="152400" cy="4762500"/>
            <a:chOff x="0" y="0"/>
            <a:chExt cx="2032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2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16350" y="2286000"/>
            <a:ext cx="152400" cy="4762500"/>
            <a:chOff x="0" y="0"/>
            <a:chExt cx="2032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2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2286000"/>
            <a:ext cx="1714500" cy="152400"/>
            <a:chOff x="0" y="0"/>
            <a:chExt cx="2286000" cy="20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66D9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0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54250" y="6896100"/>
            <a:ext cx="1714500" cy="152400"/>
            <a:chOff x="0" y="0"/>
            <a:chExt cx="2286000" cy="20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7A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860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95500" y="2838450"/>
            <a:ext cx="14097000" cy="106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8"/>
              </a:lnSpc>
            </a:pPr>
            <a:r>
              <a:rPr lang="en-US" sz="6900" b="true">
                <a:solidFill>
                  <a:srgbClr val="FFFFFF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 for attending!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10000" y="4295775"/>
            <a:ext cx="10668000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550">
                <a:solidFill>
                  <a:srgbClr val="D8DEEA"/>
                </a:solidFill>
                <a:latin typeface="Open Sans"/>
                <a:ea typeface="Open Sans"/>
                <a:cs typeface="Open Sans"/>
                <a:sym typeface="Open Sans"/>
              </a:rPr>
              <a:t>Questions, edge cases, or a layout you want to unpack?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76750" y="6143625"/>
            <a:ext cx="9334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C7F36B"/>
                </a:solidFill>
                <a:latin typeface="IBM Plex Mono"/>
                <a:ea typeface="IBM Plex Mono"/>
                <a:cs typeface="IBM Plex Mono"/>
                <a:sym typeface="IBM Plex Mono"/>
              </a:rPr>
              <a:t>Keep experimenting. The browser is your laboratory.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DAHZGPawcc4</dc:identifier>
  <dcterms:modified xsi:type="dcterms:W3CDTF">2011-08-01T06:04:30Z</dcterms:modified>
  <cp:revision>1</cp:revision>
  <dc:title>CSS Foundations</dc:title>
</cp:coreProperties>
</file>