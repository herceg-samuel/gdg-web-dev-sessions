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lios" charset="1" panose="020B0504020202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4148" y="3613279"/>
            <a:ext cx="4179995" cy="179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35"/>
              </a:lnSpc>
              <a:spcBef>
                <a:spcPct val="0"/>
              </a:spcBef>
            </a:pPr>
            <a:r>
              <a:rPr lang="en-US" sz="10310" spc="-5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Building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53940"/>
            <a:ext cx="2282618" cy="667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Understanding the Building Blocks</a:t>
            </a:r>
          </a:p>
          <a:p>
            <a:pPr algn="l" marL="0" indent="0" lvl="0">
              <a:lnSpc>
                <a:spcPts val="1732"/>
              </a:lnSpc>
            </a:pPr>
            <a:r>
              <a:rPr lang="en-US" sz="1575" spc="-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for the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98175" y="1028700"/>
            <a:ext cx="1261125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//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1542647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06886" y="8971280"/>
            <a:ext cx="803550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Date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87251" y="8971280"/>
            <a:ext cx="803550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"/>
              </a:lnSpc>
            </a:pPr>
            <a:r>
              <a:rPr lang="en-US" sz="1200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Session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10436" y="8809603"/>
            <a:ext cx="1714876" cy="44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8"/>
              </a:lnSpc>
              <a:spcBef>
                <a:spcPct val="0"/>
              </a:spcBef>
            </a:pPr>
            <a:r>
              <a:rPr lang="en-US" sz="3080" spc="-30" strike="noStrike" u="none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October 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38426" y="8809603"/>
            <a:ext cx="1482815" cy="44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8"/>
              </a:lnSpc>
            </a:pPr>
            <a:r>
              <a:rPr lang="en-US" sz="3080" spc="-3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Intro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8177" y="3613279"/>
            <a:ext cx="4491123" cy="179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435"/>
              </a:lnSpc>
              <a:spcBef>
                <a:spcPct val="0"/>
              </a:spcBef>
            </a:pPr>
            <a:r>
              <a:rPr lang="en-US" sz="10311" spc="-51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the Web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8771" y="1759359"/>
            <a:ext cx="8340529" cy="3791710"/>
            <a:chOff x="0" y="0"/>
            <a:chExt cx="741380" cy="3370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1380" cy="337041"/>
            </a:xfrm>
            <a:custGeom>
              <a:avLst/>
              <a:gdLst/>
              <a:ahLst/>
              <a:cxnLst/>
              <a:rect r="r" b="b" t="t" l="l"/>
              <a:pathLst>
                <a:path h="337041" w="741380">
                  <a:moveTo>
                    <a:pt x="0" y="0"/>
                  </a:moveTo>
                  <a:lnTo>
                    <a:pt x="741380" y="0"/>
                  </a:lnTo>
                  <a:lnTo>
                    <a:pt x="741380" y="337041"/>
                  </a:lnTo>
                  <a:lnTo>
                    <a:pt x="0" y="337041"/>
                  </a:lnTo>
                  <a:close/>
                </a:path>
              </a:pathLst>
            </a:custGeom>
            <a:blipFill>
              <a:blip r:embed="rId2"/>
              <a:stretch>
                <a:fillRect l="0" t="-867" r="0" b="-86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38225"/>
            <a:ext cx="1542647" cy="1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sz="1371" spc="-1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8918771" y="5764934"/>
            <a:ext cx="4054542" cy="3493366"/>
            <a:chOff x="0" y="0"/>
            <a:chExt cx="1067863" cy="9200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7863" cy="920063"/>
            </a:xfrm>
            <a:custGeom>
              <a:avLst/>
              <a:gdLst/>
              <a:ahLst/>
              <a:cxnLst/>
              <a:rect r="r" b="b" t="t" l="l"/>
              <a:pathLst>
                <a:path h="920063" w="1067863">
                  <a:moveTo>
                    <a:pt x="0" y="0"/>
                  </a:moveTo>
                  <a:lnTo>
                    <a:pt x="1067863" y="0"/>
                  </a:lnTo>
                  <a:lnTo>
                    <a:pt x="1067863" y="920063"/>
                  </a:lnTo>
                  <a:lnTo>
                    <a:pt x="0" y="92006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067863" cy="91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04758" y="5764934"/>
            <a:ext cx="4054542" cy="3493366"/>
            <a:chOff x="0" y="0"/>
            <a:chExt cx="1067863" cy="9200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863" cy="920063"/>
            </a:xfrm>
            <a:custGeom>
              <a:avLst/>
              <a:gdLst/>
              <a:ahLst/>
              <a:cxnLst/>
              <a:rect r="r" b="b" t="t" l="l"/>
              <a:pathLst>
                <a:path h="920063" w="1067863">
                  <a:moveTo>
                    <a:pt x="0" y="0"/>
                  </a:moveTo>
                  <a:lnTo>
                    <a:pt x="1067863" y="0"/>
                  </a:lnTo>
                  <a:lnTo>
                    <a:pt x="1067863" y="920063"/>
                  </a:lnTo>
                  <a:lnTo>
                    <a:pt x="0" y="92006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067863" cy="91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797459"/>
            <a:ext cx="7114867" cy="135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The Web Development Landscape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17035" y="1006475"/>
            <a:ext cx="1942265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809281"/>
            <a:ext cx="5124467" cy="57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8"/>
              </a:lnSpc>
            </a:pPr>
            <a:r>
              <a:rPr lang="en-US" sz="1371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Web development combines tools, technologies, and concepts to create websites and applications—each element fits together like building blocks.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6773" y="8516690"/>
            <a:ext cx="2898537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Frameworks &amp; libraries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82761" y="8326153"/>
            <a:ext cx="2898537" cy="17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20"/>
              </a:lnSpc>
            </a:pPr>
            <a:r>
              <a:rPr lang="en-US" sz="1200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Connecting frontend and backend systems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6773" y="8048872"/>
            <a:ext cx="289853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Tools &amp; editors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82761" y="7241807"/>
            <a:ext cx="2898537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∞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6773" y="6317240"/>
            <a:ext cx="289853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82761" y="6317240"/>
            <a:ext cx="2898537" cy="26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0"/>
              </a:lnSpc>
            </a:pPr>
            <a:r>
              <a:rPr lang="en-US" sz="1800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694732" y="315944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694732" y="463137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694732" y="610330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797459"/>
            <a:ext cx="4639949" cy="202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Git and GitHub: The foundation of collaboration.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7035" y="1006475"/>
            <a:ext cx="1942265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Version Control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623671"/>
            <a:ext cx="5227847" cy="4655017"/>
            <a:chOff x="0" y="0"/>
            <a:chExt cx="464697" cy="413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l="0" t="-326" r="0" b="-3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94732" y="3459535"/>
            <a:ext cx="1449268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6189" y="4023811"/>
            <a:ext cx="7743111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Git is a version control system that tracks every change made to your code.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6189" y="3632193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What is Git?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94732" y="4931465"/>
            <a:ext cx="1449268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6189" y="5495741"/>
            <a:ext cx="7743111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GitHub is a cloud platform for hosting Git repositories and enabling team collaboration.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6189" y="5104123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What is GitHub?</a:t>
            </a:r>
          </a:p>
        </p:txBody>
      </p:sp>
      <p:sp>
        <p:nvSpPr>
          <p:cNvPr name="AutoShape 17" id="17"/>
          <p:cNvSpPr/>
          <p:nvPr/>
        </p:nvSpPr>
        <p:spPr>
          <a:xfrm>
            <a:off x="7694732" y="757523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694732" y="6403395"/>
            <a:ext cx="1449268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6189" y="6967671"/>
            <a:ext cx="7743111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Together they enable teamwork, history tracking, and seamless project management.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6189" y="6576053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Why it matters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40375" y="0"/>
            <a:ext cx="47625" cy="10312036"/>
            <a:chOff x="0" y="0"/>
            <a:chExt cx="4233" cy="916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3" cy="916625"/>
            </a:xfrm>
            <a:custGeom>
              <a:avLst/>
              <a:gdLst/>
              <a:ahLst/>
              <a:cxnLst/>
              <a:rect r="r" b="b" t="t" l="l"/>
              <a:pathLst>
                <a:path h="916625" w="4233">
                  <a:moveTo>
                    <a:pt x="0" y="0"/>
                  </a:moveTo>
                  <a:lnTo>
                    <a:pt x="4233" y="0"/>
                  </a:lnTo>
                  <a:lnTo>
                    <a:pt x="4233" y="916625"/>
                  </a:lnTo>
                  <a:lnTo>
                    <a:pt x="0" y="916625"/>
                  </a:lnTo>
                  <a:close/>
                </a:path>
              </a:pathLst>
            </a:custGeom>
            <a:blipFill>
              <a:blip r:embed="rId2"/>
              <a:stretch>
                <a:fillRect l="-15034285" t="0" r="-34134284" b="113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3224253"/>
            <a:ext cx="9934124" cy="340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76"/>
              </a:lnSpc>
            </a:pPr>
            <a:r>
              <a:rPr lang="en-US" sz="4887" spc="-9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VS Code has become the go-to editor for developers worldwide. Its power lies in extensibility, thousands of extensions transform it into a complete development environment.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6967895"/>
            <a:ext cx="597573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Building the Web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04874"/>
            <a:ext cx="2575660" cy="26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sz="184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VS Code and Extensions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59520"/>
            <a:ext cx="2898537" cy="3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2"/>
              </a:lnSpc>
            </a:pPr>
            <a:r>
              <a:rPr lang="en-US" sz="1311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Syntax highlighting, auto-completion, and intelligent code suggestions built-in.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8343" y="8859520"/>
            <a:ext cx="2898537" cy="3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2"/>
              </a:lnSpc>
            </a:pPr>
            <a:r>
              <a:rPr lang="en-US" sz="1311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Linters catch errors early, enforce code style, and improve quality.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401227"/>
            <a:ext cx="2898537" cy="26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sz="184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Powerful Editor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8343" y="8401227"/>
            <a:ext cx="2898537" cy="26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sz="184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Smart Extensions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2477968" y="1153160"/>
            <a:ext cx="978855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9367986" y="8859520"/>
            <a:ext cx="2898537" cy="37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2"/>
              </a:lnSpc>
            </a:pPr>
            <a:r>
              <a:rPr lang="en-US" sz="1311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Built-in Git support plus extensions for seamless version control.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67986" y="8401227"/>
            <a:ext cx="2898537" cy="26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0"/>
              </a:lnSpc>
            </a:pPr>
            <a:r>
              <a:rPr lang="en-US" sz="1845" spc="-18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Git Integration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109276" y="483774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109276" y="630967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109276" y="778160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1109276" y="1797459"/>
            <a:ext cx="4639949" cy="199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48"/>
              </a:lnSpc>
            </a:pPr>
            <a:r>
              <a:rPr lang="en-US" sz="4771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Live Server. Real-time preview in a single flow.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7035" y="1006475"/>
            <a:ext cx="1942265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Live Server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1759359"/>
            <a:ext cx="8698245" cy="7494178"/>
            <a:chOff x="0" y="0"/>
            <a:chExt cx="773177" cy="6661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3177" cy="666149"/>
            </a:xfrm>
            <a:custGeom>
              <a:avLst/>
              <a:gdLst/>
              <a:ahLst/>
              <a:cxnLst/>
              <a:rect r="r" b="b" t="t" l="l"/>
              <a:pathLst>
                <a:path h="666149" w="773177">
                  <a:moveTo>
                    <a:pt x="0" y="0"/>
                  </a:moveTo>
                  <a:lnTo>
                    <a:pt x="773177" y="0"/>
                  </a:lnTo>
                  <a:lnTo>
                    <a:pt x="773177" y="666149"/>
                  </a:lnTo>
                  <a:lnTo>
                    <a:pt x="0" y="666149"/>
                  </a:lnTo>
                  <a:close/>
                </a:path>
              </a:pathLst>
            </a:custGeom>
            <a:blipFill>
              <a:blip r:embed="rId2"/>
              <a:stretch>
                <a:fillRect l="0" t="-416" r="0" b="-41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09276" y="534864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30733" y="5702118"/>
            <a:ext cx="432856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See changes instantly in your browser.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30733" y="5310500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Real-time preview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09276" y="682057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30733" y="7174048"/>
            <a:ext cx="432856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Browser updates automatically on save.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30733" y="6782430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Auto-refresh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1109276" y="925353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1109276" y="829250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30733" y="8645978"/>
            <a:ext cx="432856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Faster iteration and debugging cycles.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30733" y="8254360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Speed up workflow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11"/>
              </a:lnSpc>
            </a:pPr>
            <a:r>
              <a:rPr lang="en-US" sz="1464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340768" y="1650134"/>
            <a:ext cx="4054542" cy="3493366"/>
            <a:chOff x="0" y="0"/>
            <a:chExt cx="1067863" cy="9200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7863" cy="920063"/>
            </a:xfrm>
            <a:custGeom>
              <a:avLst/>
              <a:gdLst/>
              <a:ahLst/>
              <a:cxnLst/>
              <a:rect r="r" b="b" t="t" l="l"/>
              <a:pathLst>
                <a:path h="920063" w="1067863">
                  <a:moveTo>
                    <a:pt x="0" y="0"/>
                  </a:moveTo>
                  <a:lnTo>
                    <a:pt x="1067863" y="0"/>
                  </a:lnTo>
                  <a:lnTo>
                    <a:pt x="1067863" y="920063"/>
                  </a:lnTo>
                  <a:lnTo>
                    <a:pt x="0" y="92006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067863" cy="91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204758" y="5764934"/>
            <a:ext cx="4054542" cy="3493366"/>
            <a:chOff x="0" y="0"/>
            <a:chExt cx="1067863" cy="9200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863" cy="920063"/>
            </a:xfrm>
            <a:custGeom>
              <a:avLst/>
              <a:gdLst/>
              <a:ahLst/>
              <a:cxnLst/>
              <a:rect r="r" b="b" t="t" l="l"/>
              <a:pathLst>
                <a:path h="920063" w="1067863">
                  <a:moveTo>
                    <a:pt x="0" y="0"/>
                  </a:moveTo>
                  <a:lnTo>
                    <a:pt x="1067863" y="0"/>
                  </a:lnTo>
                  <a:lnTo>
                    <a:pt x="1067863" y="920063"/>
                  </a:lnTo>
                  <a:lnTo>
                    <a:pt x="0" y="92006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1067863" cy="9105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797459"/>
            <a:ext cx="7114867" cy="202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Localhost.</a:t>
            </a:r>
          </a:p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Your personal testing server.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17035" y="1016000"/>
            <a:ext cx="1942265" cy="27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114"/>
              </a:lnSpc>
            </a:pPr>
            <a:r>
              <a:rPr lang="en-US" sz="1922" spc="-1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Localhost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817283"/>
            <a:ext cx="5124467" cy="69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1"/>
              </a:lnSpc>
            </a:pPr>
            <a:r>
              <a:rPr lang="en-US" sz="1664" spc="-16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Localhost turns your computer into a server environment, enabling you to test websites without internet or remote servers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82761" y="8326153"/>
            <a:ext cx="2898537" cy="187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9"/>
              </a:lnSpc>
            </a:pPr>
            <a:r>
              <a:rPr lang="en-US" sz="1281" spc="-12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No internet connection required.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82761" y="7367797"/>
            <a:ext cx="2898537" cy="793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2"/>
              </a:lnSpc>
            </a:pPr>
            <a:r>
              <a:rPr lang="en-US" sz="5475" spc="-5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127.0.0.1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918771" y="2198466"/>
            <a:ext cx="2898537" cy="2396703"/>
            <a:chOff x="0" y="0"/>
            <a:chExt cx="3864716" cy="319560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945299"/>
              <a:ext cx="3864716" cy="250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09"/>
                </a:lnSpc>
              </a:pPr>
              <a:r>
                <a:rPr lang="en-US" sz="1281" spc="-12">
                  <a:solidFill>
                    <a:srgbClr val="B8B8B8"/>
                  </a:solidFill>
                  <a:latin typeface="Helios"/>
                  <a:ea typeface="Helios"/>
                  <a:cs typeface="Helios"/>
                  <a:sym typeface="Helios"/>
                </a:rPr>
                <a:t>Files served from local machine.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2327892"/>
              <a:ext cx="3864716" cy="369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14"/>
                </a:lnSpc>
              </a:pPr>
              <a:r>
                <a:rPr lang="en-US" sz="1922" spc="-19">
                  <a:solidFill>
                    <a:srgbClr val="FAFAFA"/>
                  </a:solidFill>
                  <a:latin typeface="Helios"/>
                  <a:ea typeface="Helios"/>
                  <a:cs typeface="Helios"/>
                  <a:sym typeface="Helios"/>
                </a:rPr>
                <a:t>Local file system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9050"/>
              <a:ext cx="3864716" cy="3691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14"/>
                </a:lnSpc>
              </a:pPr>
              <a:r>
                <a:rPr lang="en-US" sz="1922" spc="-19">
                  <a:solidFill>
                    <a:srgbClr val="FAFAFA"/>
                  </a:solidFill>
                  <a:latin typeface="Helios"/>
                  <a:ea typeface="Helios"/>
                  <a:cs typeface="Helios"/>
                  <a:sym typeface="Helios"/>
                </a:rPr>
                <a:t>06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782761" y="6326765"/>
            <a:ext cx="2898537" cy="27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14"/>
              </a:lnSpc>
            </a:pPr>
            <a:r>
              <a:rPr lang="en-US" sz="1922" spc="-1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227779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109276" y="483774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109276" y="630967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1109276" y="778160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797459"/>
            <a:ext cx="9633470" cy="68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Frontend and Backend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705748" y="1006475"/>
            <a:ext cx="2553552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Two Sides of the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09276" y="534864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30733" y="5702118"/>
            <a:ext cx="432856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HTML, CSS, JavaScript create the user interface.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09276" y="3917278"/>
            <a:ext cx="4328567" cy="34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8"/>
              </a:lnSpc>
            </a:pPr>
            <a:r>
              <a:rPr lang="en-US" sz="2398" spc="-2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How They Work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62672" y="5227278"/>
            <a:ext cx="1076642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93437" y="4245766"/>
            <a:ext cx="456709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90231" y="7301640"/>
            <a:ext cx="1076642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85957" y="7972664"/>
            <a:ext cx="1076642" cy="22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8"/>
              </a:lnSpc>
            </a:pPr>
            <a:r>
              <a:rPr lang="en-US" sz="1598" spc="-15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DATABASE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30733" y="5310500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Frontend: User Interface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09276" y="682057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30733" y="7174048"/>
            <a:ext cx="432856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Server logic processes requests and manages data.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30733" y="6782430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Backend: Server Logic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1109276" y="9253538"/>
            <a:ext cx="6150024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1109276" y="829250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07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30733" y="8645978"/>
            <a:ext cx="432856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APIs enable frontend-backend communication.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30733" y="8254360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Dynamic Websites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1028700" y="6229645"/>
            <a:ext cx="8867813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028700" y="9248775"/>
            <a:ext cx="8867813" cy="0"/>
          </a:xfrm>
          <a:prstGeom prst="line">
            <a:avLst/>
          </a:prstGeom>
          <a:ln cap="flat" w="19050">
            <a:solidFill>
              <a:srgbClr val="FAFA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 flipV="true">
            <a:off x="1023938" y="3200990"/>
            <a:ext cx="0" cy="6057310"/>
          </a:xfrm>
          <a:prstGeom prst="line">
            <a:avLst/>
          </a:prstGeom>
          <a:ln cap="flat" w="19050">
            <a:solidFill>
              <a:srgbClr val="FAFA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5840673" y="3200990"/>
            <a:ext cx="0" cy="605731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3694432" y="5159736"/>
            <a:ext cx="339712" cy="339712"/>
            <a:chOff x="0" y="0"/>
            <a:chExt cx="452949" cy="45294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452949" cy="452949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44706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2921992" y="7234099"/>
            <a:ext cx="339712" cy="339712"/>
            <a:chOff x="0" y="0"/>
            <a:chExt cx="452949" cy="45294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52949" cy="452949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44706"/>
                </a:srgbClr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0">
            <a:off x="6717717" y="7905123"/>
            <a:ext cx="339712" cy="339712"/>
            <a:chOff x="0" y="0"/>
            <a:chExt cx="452949" cy="452949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452949" cy="452949"/>
              <a:chOff x="0" y="0"/>
              <a:chExt cx="812800" cy="8128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44706"/>
                </a:srgbClr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0">
            <a:off x="7922886" y="4186101"/>
            <a:ext cx="339712" cy="339712"/>
            <a:chOff x="0" y="0"/>
            <a:chExt cx="452949" cy="452949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0"/>
              <a:ext cx="452949" cy="452949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>
                  <a:alpha val="14902"/>
                </a:srgbClr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2670" lIns="2670" bIns="2670" rIns="267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66006" y="66937"/>
              <a:ext cx="320938" cy="320938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FAFA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2670" lIns="2670" bIns="2670" rIns="2670"/>
              <a:lstStyle/>
              <a:p>
                <a:pPr algn="ctr" marL="0" indent="0" lvl="0">
                  <a:lnSpc>
                    <a:spcPts val="17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97459"/>
            <a:ext cx="7114867" cy="68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Pre-built structures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44433" y="1797459"/>
            <a:ext cx="7114867" cy="68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that accelerate coding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17035" y="1006475"/>
            <a:ext cx="1942265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08 /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196951"/>
            <a:ext cx="5227847" cy="4655017"/>
            <a:chOff x="0" y="0"/>
            <a:chExt cx="464697" cy="413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l="0" t="-326" r="0" b="-32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30077" y="3196951"/>
            <a:ext cx="5227847" cy="4655017"/>
            <a:chOff x="0" y="0"/>
            <a:chExt cx="464697" cy="413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3"/>
              <a:stretch>
                <a:fillRect l="0" t="-326" r="0" b="-3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9028393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React, Angular, Vue power dynamic user interfaces.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0077" y="9028393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Express, Django handle server logic and databases.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178230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30077" y="8178230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Backend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636775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UI Frameworks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0077" y="8636775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Server Frameworks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31453" y="3196951"/>
            <a:ext cx="5227847" cy="4655017"/>
            <a:chOff x="0" y="0"/>
            <a:chExt cx="464697" cy="413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4"/>
              <a:stretch>
                <a:fillRect l="0" t="-326" r="0" b="-32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31453" y="9028393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Enforce best practices and simplify complex tasks.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1453" y="8178230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1453" y="8636775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Best Practices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7694732" y="315944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7694732" y="463137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694732" y="610330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797459"/>
            <a:ext cx="4639949" cy="2023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Three tools that reveal how websites work.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7035" y="1006475"/>
            <a:ext cx="1942265" cy="58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Analyzing Websites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623671"/>
            <a:ext cx="5227847" cy="4655017"/>
            <a:chOff x="0" y="0"/>
            <a:chExt cx="464697" cy="413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l="0" t="-326" r="0" b="-3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694732" y="3459535"/>
            <a:ext cx="1449268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16189" y="4023811"/>
            <a:ext cx="7743111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Inspect HTML structure, CSS styles, and DOM elements in real-time.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16189" y="3632193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Elements Panel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94732" y="4931465"/>
            <a:ext cx="1449268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16189" y="5495741"/>
            <a:ext cx="7743111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Debug JavaScript, view errors, and test code snippets interactively.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16189" y="5104123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Console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7694732" y="7575231"/>
            <a:ext cx="9564568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7694732" y="6403395"/>
            <a:ext cx="1449268" cy="91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35"/>
              </a:lnSpc>
            </a:pPr>
            <a:r>
              <a:rPr lang="en-US" sz="6395" spc="-6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11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6189" y="6967671"/>
            <a:ext cx="7743111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Monitor API calls, resource loading, and optimize page performance.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6189" y="6576053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Network Tab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477968" y="1153160"/>
            <a:ext cx="12839067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797459"/>
            <a:ext cx="7114867" cy="68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Content Elements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44433" y="1797459"/>
            <a:ext cx="7114867" cy="68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building blocks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17035" y="1006475"/>
            <a:ext cx="1942265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10 of 12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196951"/>
            <a:ext cx="5227847" cy="4655017"/>
            <a:chOff x="0" y="0"/>
            <a:chExt cx="464697" cy="413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l="0" t="-326" r="0" b="-32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30077" y="3196951"/>
            <a:ext cx="5227847" cy="4655017"/>
            <a:chOff x="0" y="0"/>
            <a:chExt cx="464697" cy="413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3"/>
              <a:stretch>
                <a:fillRect l="0" t="-326" r="0" b="-32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9028393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Collect user input with text fields, checkboxes, and buttons.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30077" y="9028393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Display structured data in organized rows and columns.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178230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Element 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30077" y="8178230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Element 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636775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Forms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0077" y="8636775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Tables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31453" y="3196951"/>
            <a:ext cx="5227847" cy="4655017"/>
            <a:chOff x="0" y="0"/>
            <a:chExt cx="464697" cy="413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4"/>
              <a:stretch>
                <a:fillRect l="0" t="-326" r="0" b="-32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031453" y="9028393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Add visual content and integrate external media like videos.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1453" y="8178230"/>
            <a:ext cx="5227847" cy="209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48"/>
              </a:lnSpc>
            </a:pPr>
            <a:r>
              <a:rPr lang="en-US" sz="1498" spc="-14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Element 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1453" y="8636775"/>
            <a:ext cx="3550028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Images &amp; Embeds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38225"/>
            <a:ext cx="1542647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AutoShape 3" id="3"/>
          <p:cNvSpPr/>
          <p:nvPr/>
        </p:nvSpPr>
        <p:spPr>
          <a:xfrm>
            <a:off x="2477968" y="1153160"/>
            <a:ext cx="12849735" cy="0"/>
          </a:xfrm>
          <a:prstGeom prst="line">
            <a:avLst/>
          </a:prstGeom>
          <a:ln cap="flat" w="9525">
            <a:solidFill>
              <a:srgbClr val="B8B8B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981565" y="5302861"/>
            <a:ext cx="5429051" cy="631050"/>
            <a:chOff x="0" y="0"/>
            <a:chExt cx="1429873" cy="166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9873" cy="166203"/>
            </a:xfrm>
            <a:custGeom>
              <a:avLst/>
              <a:gdLst/>
              <a:ahLst/>
              <a:cxnLst/>
              <a:rect r="r" b="b" t="t" l="l"/>
              <a:pathLst>
                <a:path h="166203" w="1429873">
                  <a:moveTo>
                    <a:pt x="0" y="0"/>
                  </a:moveTo>
                  <a:lnTo>
                    <a:pt x="1429873" y="0"/>
                  </a:lnTo>
                  <a:lnTo>
                    <a:pt x="1429873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1429873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81565" y="6772905"/>
            <a:ext cx="8489878" cy="631050"/>
            <a:chOff x="0" y="0"/>
            <a:chExt cx="2236017" cy="1662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6017" cy="166203"/>
            </a:xfrm>
            <a:custGeom>
              <a:avLst/>
              <a:gdLst/>
              <a:ahLst/>
              <a:cxnLst/>
              <a:rect r="r" b="b" t="t" l="l"/>
              <a:pathLst>
                <a:path h="166203" w="2236017">
                  <a:moveTo>
                    <a:pt x="0" y="0"/>
                  </a:moveTo>
                  <a:lnTo>
                    <a:pt x="2236017" y="0"/>
                  </a:lnTo>
                  <a:lnTo>
                    <a:pt x="2236017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373737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2236017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81565" y="8242948"/>
            <a:ext cx="12277735" cy="631050"/>
            <a:chOff x="0" y="0"/>
            <a:chExt cx="3233642" cy="1662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33642" cy="166203"/>
            </a:xfrm>
            <a:custGeom>
              <a:avLst/>
              <a:gdLst/>
              <a:ahLst/>
              <a:cxnLst/>
              <a:rect r="r" b="b" t="t" l="l"/>
              <a:pathLst>
                <a:path h="166203" w="3233642">
                  <a:moveTo>
                    <a:pt x="0" y="0"/>
                  </a:moveTo>
                  <a:lnTo>
                    <a:pt x="3233642" y="0"/>
                  </a:lnTo>
                  <a:lnTo>
                    <a:pt x="3233642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FAFAFA"/>
            </a:solidFill>
            <a:ln w="9525" cap="sq">
              <a:solidFill>
                <a:srgbClr val="B8B8B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3233642" cy="156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7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686755" y="1759359"/>
            <a:ext cx="3572545" cy="3181091"/>
            <a:chOff x="0" y="0"/>
            <a:chExt cx="464697" cy="4137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4697" cy="413779"/>
            </a:xfrm>
            <a:custGeom>
              <a:avLst/>
              <a:gdLst/>
              <a:ahLst/>
              <a:cxnLst/>
              <a:rect r="r" b="b" t="t" l="l"/>
              <a:pathLst>
                <a:path h="413779" w="464697">
                  <a:moveTo>
                    <a:pt x="0" y="0"/>
                  </a:moveTo>
                  <a:lnTo>
                    <a:pt x="464697" y="0"/>
                  </a:lnTo>
                  <a:lnTo>
                    <a:pt x="464697" y="413779"/>
                  </a:lnTo>
                  <a:lnTo>
                    <a:pt x="0" y="413779"/>
                  </a:lnTo>
                  <a:close/>
                </a:path>
              </a:pathLst>
            </a:custGeom>
            <a:blipFill>
              <a:blip r:embed="rId2"/>
              <a:stretch>
                <a:fillRect l="0" t="-326" r="0" b="-326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1797459"/>
            <a:ext cx="9633470" cy="68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6"/>
              </a:lnSpc>
            </a:pPr>
            <a:r>
              <a:rPr lang="en-US" sz="4796" spc="-95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The Building Blocks Together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05748" y="1006475"/>
            <a:ext cx="2553552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Summary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350529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0158" y="5704004"/>
            <a:ext cx="1759933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0158" y="5312386"/>
            <a:ext cx="1443390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82057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50158" y="7174048"/>
            <a:ext cx="1759933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0158" y="6782430"/>
            <a:ext cx="1443390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Develop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292502"/>
            <a:ext cx="1449268" cy="407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</a:pPr>
            <a:r>
              <a:rPr lang="en-US" sz="2798" spc="-27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11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0158" y="8645978"/>
            <a:ext cx="1759933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Step 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50158" y="8254360"/>
            <a:ext cx="1443390" cy="30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08"/>
              </a:lnSpc>
            </a:pPr>
            <a:r>
              <a:rPr lang="en-US" sz="2098" spc="-20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Refine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270862" y="5505090"/>
            <a:ext cx="4328567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Define structure with HTML, CSS, and content elements.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70862" y="6975134"/>
            <a:ext cx="4328567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B8B8B8"/>
                </a:solidFill>
                <a:latin typeface="Helios"/>
                <a:ea typeface="Helios"/>
                <a:cs typeface="Helios"/>
                <a:sym typeface="Helios"/>
              </a:rPr>
              <a:t>Build with VS Code, Git, Live Server, and frameworks.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70862" y="8445177"/>
            <a:ext cx="4328567" cy="19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10"/>
              </a:lnSpc>
            </a:pPr>
            <a:r>
              <a:rPr lang="en-US" sz="1372" spc="-13">
                <a:solidFill>
                  <a:srgbClr val="1D1D1D"/>
                </a:solidFill>
                <a:latin typeface="Helios"/>
                <a:ea typeface="Helios"/>
                <a:cs typeface="Helios"/>
                <a:sym typeface="Helios"/>
              </a:rPr>
              <a:t>Connect frontend to backend, test, and optimize.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75179"/>
            <a:ext cx="7399292" cy="214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213"/>
              </a:lnSpc>
              <a:spcBef>
                <a:spcPct val="0"/>
              </a:spcBef>
            </a:pPr>
            <a:r>
              <a:rPr lang="en-US" sz="12295" spc="-6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8071485"/>
            <a:ext cx="3649093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</a:pPr>
            <a:r>
              <a:rPr lang="en-US" sz="4200" spc="-4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START BUILDING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98175" y="1028700"/>
            <a:ext cx="1261125" cy="18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402"/>
              </a:lnSpc>
            </a:pPr>
            <a:r>
              <a:rPr lang="en-US" sz="1275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// 12/12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28700"/>
            <a:ext cx="1542647" cy="18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2"/>
              </a:lnSpc>
            </a:pPr>
            <a:r>
              <a:rPr lang="en-US" sz="1275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Web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06886" y="8971280"/>
            <a:ext cx="803550" cy="18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2"/>
              </a:lnSpc>
            </a:pPr>
            <a:r>
              <a:rPr lang="en-US" sz="1275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Next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87251" y="8971280"/>
            <a:ext cx="803550" cy="18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2"/>
              </a:lnSpc>
            </a:pPr>
            <a:r>
              <a:rPr lang="en-US" sz="1275" spc="-12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Resources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10436" y="9017972"/>
            <a:ext cx="1714876" cy="240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40"/>
              </a:lnSpc>
            </a:pPr>
            <a:r>
              <a:rPr lang="en-US" sz="1673" spc="-16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Set up GitHub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38426" y="8830354"/>
            <a:ext cx="1482815" cy="42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1"/>
              </a:lnSpc>
            </a:pPr>
            <a:r>
              <a:rPr lang="en-US" sz="2946" spc="-29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VS Code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04590" y="5448567"/>
            <a:ext cx="7884436" cy="2136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7213"/>
              </a:lnSpc>
              <a:spcBef>
                <a:spcPct val="0"/>
              </a:spcBef>
            </a:pPr>
            <a:r>
              <a:rPr lang="en-US" sz="12295" spc="-614">
                <a:solidFill>
                  <a:srgbClr val="FAFAFA"/>
                </a:solidFill>
                <a:latin typeface="Helios"/>
                <a:ea typeface="Helios"/>
                <a:cs typeface="Helios"/>
                <a:sym typeface="Helios"/>
              </a:rPr>
              <a:t>for joining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DAHXHwCmEf4</dc:identifier>
  <dcterms:modified xsi:type="dcterms:W3CDTF">2011-08-01T06:04:30Z</dcterms:modified>
  <cp:revision>1</cp:revision>
  <dc:title>Web Development Foundations</dc:title>
</cp:coreProperties>
</file>