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" charset="1" panose="020B0502030000000004"/>
      <p:regular r:id="rId17"/>
    </p:embeddedFont>
    <p:embeddedFont>
      <p:font typeface="Inter Semi-Bold" charset="1" panose="02000503000000020004"/>
      <p:regular r:id="rId18"/>
    </p:embeddedFont>
    <p:embeddedFont>
      <p:font typeface="Inter Medium" charset="1" panose="02000503000000020004"/>
      <p:regular r:id="rId19"/>
    </p:embeddedFont>
    <p:embeddedFont>
      <p:font typeface="Roboto Mono" charset="1" panose="00000000000000000000"/>
      <p:regular r:id="rId20"/>
    </p:embeddedFont>
    <p:embeddedFont>
      <p:font typeface="Inter Bold Italics" charset="1" panose="020B08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3244" y="207708"/>
            <a:ext cx="13934756" cy="10079292"/>
          </a:xfrm>
          <a:custGeom>
            <a:avLst/>
            <a:gdLst/>
            <a:ahLst/>
            <a:cxnLst/>
            <a:rect r="r" b="b" t="t" l="l"/>
            <a:pathLst>
              <a:path h="10079292" w="13934756">
                <a:moveTo>
                  <a:pt x="0" y="0"/>
                </a:moveTo>
                <a:lnTo>
                  <a:pt x="13934756" y="0"/>
                </a:lnTo>
                <a:lnTo>
                  <a:pt x="13934756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9369" y="1553798"/>
            <a:ext cx="3393597" cy="12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1"/>
              </a:lnSpc>
            </a:pPr>
            <a:r>
              <a:rPr lang="en-US" b="true" sz="9571" spc="-285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HTML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147" y="2850160"/>
            <a:ext cx="2615729" cy="12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5"/>
              </a:lnSpc>
            </a:pPr>
            <a:r>
              <a:rPr lang="en-US" sz="9435" spc="-281" b="true">
                <a:solidFill>
                  <a:srgbClr val="F85540"/>
                </a:solidFill>
                <a:latin typeface="Inter Bold"/>
                <a:ea typeface="Inter Bold"/>
                <a:cs typeface="Inter Bold"/>
                <a:sym typeface="Inter Bold"/>
              </a:rPr>
              <a:t>Web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508" y="4078901"/>
            <a:ext cx="7679645" cy="130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7"/>
              </a:lnSpc>
            </a:pPr>
            <a:r>
              <a:rPr lang="en-US" sz="9707" spc="-289" b="true">
                <a:solidFill>
                  <a:srgbClr val="F85540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3666" y="5337611"/>
            <a:ext cx="5963846" cy="129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5"/>
              </a:lnSpc>
            </a:pPr>
            <a:r>
              <a:rPr lang="en-US" sz="9775" spc="-291" b="true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Essentials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6635716"/>
            <a:ext cx="7197072" cy="437279"/>
          </a:xfrm>
          <a:custGeom>
            <a:avLst/>
            <a:gdLst/>
            <a:ahLst/>
            <a:cxnLst/>
            <a:rect r="r" b="b" t="t" l="l"/>
            <a:pathLst>
              <a:path h="437279" w="7197072">
                <a:moveTo>
                  <a:pt x="0" y="0"/>
                </a:moveTo>
                <a:lnTo>
                  <a:pt x="7197072" y="0"/>
                </a:lnTo>
                <a:lnTo>
                  <a:pt x="719707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2176" y="7136325"/>
            <a:ext cx="6791738" cy="115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>
                <a:solidFill>
                  <a:srgbClr val="F2F2F2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Semantics, Elements, Forms, Tables, Assets &amp; More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163" y="8807213"/>
            <a:ext cx="3519703" cy="52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2"/>
              </a:lnSpc>
            </a:pPr>
            <a:r>
              <a:rPr lang="en-US" sz="2801">
                <a:solidFill>
                  <a:srgbClr val="F85540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October 19,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633" y="790769"/>
            <a:ext cx="6724954" cy="204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1"/>
              </a:lnSpc>
            </a:pPr>
            <a:r>
              <a:rPr lang="en-US" sz="7476" spc="-149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Understanding HTML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964" y="2829917"/>
            <a:ext cx="4691926" cy="10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442" spc="-148" b="true">
                <a:solidFill>
                  <a:srgbClr val="EB584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Semantics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314" y="4142007"/>
            <a:ext cx="6356896" cy="132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355" spc="-47" b="true">
                <a:solidFill>
                  <a:srgbClr val="FFFFFF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Semantc HTML gives structure and meaning to your content—making it accessible, discoverable, and easier to maintain.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6635716"/>
            <a:ext cx="7197072" cy="229572"/>
          </a:xfrm>
          <a:custGeom>
            <a:avLst/>
            <a:gdLst/>
            <a:ahLst/>
            <a:cxnLst/>
            <a:rect r="r" b="b" t="t" l="l"/>
            <a:pathLst>
              <a:path h="229572" w="7197072">
                <a:moveTo>
                  <a:pt x="0" y="0"/>
                </a:moveTo>
                <a:lnTo>
                  <a:pt x="7197072" y="0"/>
                </a:lnTo>
                <a:lnTo>
                  <a:pt x="7197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1671" y="6983918"/>
            <a:ext cx="5521208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Boosts SEO with clearer content context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499343"/>
            <a:ext cx="7197072" cy="218640"/>
          </a:xfrm>
          <a:custGeom>
            <a:avLst/>
            <a:gdLst/>
            <a:ahLst/>
            <a:cxnLst/>
            <a:rect r="r" b="b" t="t" l="l"/>
            <a:pathLst>
              <a:path h="218640" w="7197072">
                <a:moveTo>
                  <a:pt x="0" y="0"/>
                </a:moveTo>
                <a:lnTo>
                  <a:pt x="7197072" y="0"/>
                </a:lnTo>
                <a:lnTo>
                  <a:pt x="7197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1963" y="7902629"/>
            <a:ext cx="5492001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Enhances readability and maintainability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8570678"/>
            <a:ext cx="7197072" cy="218640"/>
          </a:xfrm>
          <a:custGeom>
            <a:avLst/>
            <a:gdLst/>
            <a:ahLst/>
            <a:cxnLst/>
            <a:rect r="r" b="b" t="t" l="l"/>
            <a:pathLst>
              <a:path h="218640" w="7197072">
                <a:moveTo>
                  <a:pt x="0" y="0"/>
                </a:moveTo>
                <a:lnTo>
                  <a:pt x="7197072" y="0"/>
                </a:lnTo>
                <a:lnTo>
                  <a:pt x="7197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06488" y="634055"/>
            <a:ext cx="8936182" cy="9018889"/>
          </a:xfrm>
          <a:custGeom>
            <a:avLst/>
            <a:gdLst/>
            <a:ahLst/>
            <a:cxnLst/>
            <a:rect r="r" b="b" t="t" l="l"/>
            <a:pathLst>
              <a:path h="9018889" w="8936182">
                <a:moveTo>
                  <a:pt x="0" y="0"/>
                </a:moveTo>
                <a:lnTo>
                  <a:pt x="8936182" y="0"/>
                </a:lnTo>
                <a:lnTo>
                  <a:pt x="8936182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25244" y="852695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85164" y="1790177"/>
            <a:ext cx="6295430" cy="69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</a:t>
            </a:r>
            <a:r>
              <a:rPr lang="en-US" sz="2254" spc="-4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html&gt;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&lt;html </a:t>
            </a:r>
            <a:r>
              <a:rPr lang="en-US" sz="2254" spc="-45">
                <a:solidFill>
                  <a:srgbClr val="B28959"/>
                </a:solidFill>
                <a:latin typeface="Roboto Mono"/>
                <a:ea typeface="Roboto Mono"/>
                <a:cs typeface="Roboto Mono"/>
                <a:sym typeface="Roboto Mono"/>
              </a:rPr>
              <a:t>lang="</a:t>
            </a:r>
            <a:r>
              <a:rPr lang="en-US" sz="2254" spc="-45">
                <a:solidFill>
                  <a:srgbClr val="66C760"/>
                </a:solidFill>
                <a:latin typeface="Roboto Mono"/>
                <a:ea typeface="Roboto Mono"/>
                <a:cs typeface="Roboto Mono"/>
                <a:sym typeface="Roboto Mono"/>
              </a:rPr>
              <a:t>en"</a:t>
            </a: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&lt;head&gt;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&lt;title&gt;</a:t>
            </a:r>
            <a:r>
              <a:rPr lang="en-US" sz="2254" spc="-4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Semantic Page</a:t>
            </a: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&lt;/title&gt;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&lt;/head&gt;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&lt;body&gt;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&lt;header&gt;Site Header&lt;/header&gt;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&lt;nav&gt;</a:t>
            </a:r>
            <a:r>
              <a:rPr lang="en-US" sz="2254" spc="-4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Navigation</a:t>
            </a: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&lt;/nav&gt;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&lt;main&gt;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&lt;article&gt;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&lt;h1&gt;Article Title&lt;/h1&gt;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&lt;p&gt;Content goes here.&lt;/p&gt;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&lt;/article&gt;</a:t>
            </a:r>
          </a:p>
          <a:p>
            <a:pPr algn="l">
              <a:lnSpc>
                <a:spcPts val="4058"/>
              </a:lnSpc>
            </a:pPr>
            <a:r>
              <a:rPr lang="en-US" sz="2254" spc="-45">
                <a:solidFill>
                  <a:srgbClr val="EB5847"/>
                </a:solidFill>
                <a:latin typeface="Roboto Mono"/>
                <a:ea typeface="Roboto Mono"/>
                <a:cs typeface="Roboto Mono"/>
                <a:sym typeface="Roboto Mono"/>
              </a:rPr>
              <a:t>  &lt;/main&gt;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502" y="8836401"/>
            <a:ext cx="5938065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Creates a consistent, logical page structure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9763" y="6065207"/>
            <a:ext cx="471193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80000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Improves accessibility for all users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5024" y="618643"/>
            <a:ext cx="4791352" cy="96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290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Core HTML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2076" y="1567476"/>
            <a:ext cx="8086116" cy="96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290" b="true">
                <a:solidFill>
                  <a:srgbClr val="F0564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Elements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944" y="2893296"/>
            <a:ext cx="1578302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Headings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67081" y="2821980"/>
            <a:ext cx="2081764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Structure content</a:t>
            </a:r>
          </a:p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with clear hierarchy.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640352"/>
            <a:ext cx="5239206" cy="218640"/>
          </a:xfrm>
          <a:custGeom>
            <a:avLst/>
            <a:gdLst/>
            <a:ahLst/>
            <a:cxnLst/>
            <a:rect r="r" b="b" t="t" l="l"/>
            <a:pathLst>
              <a:path h="218640" w="5239206">
                <a:moveTo>
                  <a:pt x="0" y="0"/>
                </a:moveTo>
                <a:lnTo>
                  <a:pt x="5239206" y="0"/>
                </a:lnTo>
                <a:lnTo>
                  <a:pt x="5239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9998" y="3917433"/>
            <a:ext cx="1972878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Paragraphs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8540" y="3891300"/>
            <a:ext cx="1935872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Present text</a:t>
            </a:r>
          </a:p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 readable blocks.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4711687"/>
            <a:ext cx="5239206" cy="218640"/>
          </a:xfrm>
          <a:custGeom>
            <a:avLst/>
            <a:gdLst/>
            <a:ahLst/>
            <a:cxnLst/>
            <a:rect r="r" b="b" t="t" l="l"/>
            <a:pathLst>
              <a:path h="218640" w="5239206">
                <a:moveTo>
                  <a:pt x="0" y="0"/>
                </a:moveTo>
                <a:lnTo>
                  <a:pt x="5239206" y="0"/>
                </a:lnTo>
                <a:lnTo>
                  <a:pt x="5239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9862" y="5062057"/>
            <a:ext cx="986439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Lists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6933" y="5005022"/>
            <a:ext cx="2096498" cy="105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76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Organize items</a:t>
            </a:r>
          </a:p>
          <a:p>
            <a:pPr algn="l">
              <a:lnSpc>
                <a:spcPts val="2874"/>
              </a:lnSpc>
            </a:pPr>
            <a:r>
              <a:rPr lang="en-US" sz="1916" spc="-76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 ordered or unordered formats.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6209369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9862" y="6507897"/>
            <a:ext cx="986439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Links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69433" y="6466704"/>
            <a:ext cx="1846562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Connect to pages</a:t>
            </a:r>
          </a:p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and resources.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280704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5916" y="7532035"/>
            <a:ext cx="1381014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Buttons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70812" y="7519959"/>
            <a:ext cx="1708611" cy="66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spc="-7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Trigger actions</a:t>
            </a:r>
          </a:p>
          <a:p>
            <a:pPr algn="l">
              <a:lnSpc>
                <a:spcPts val="2715"/>
              </a:lnSpc>
            </a:pPr>
            <a:r>
              <a:rPr lang="en-US" sz="1810" spc="-7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and interactions.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8352038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7889" y="8586293"/>
            <a:ext cx="1183727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108" b="true">
                <a:solidFill>
                  <a:srgbClr val="F05643"/>
                </a:solidFill>
                <a:latin typeface="Inter Medium"/>
                <a:ea typeface="Inter Medium"/>
                <a:cs typeface="Inter Medium"/>
                <a:sym typeface="Inter Medium"/>
              </a:rPr>
              <a:t>Images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68674" y="8605343"/>
            <a:ext cx="1922471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Add visual content</a:t>
            </a:r>
          </a:p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to your pages.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873598" y="2776725"/>
            <a:ext cx="448450" cy="6657580"/>
          </a:xfrm>
          <a:custGeom>
            <a:avLst/>
            <a:gdLst/>
            <a:ahLst/>
            <a:cxnLst/>
            <a:rect r="r" b="b" t="t" l="l"/>
            <a:pathLst>
              <a:path h="6657580" w="448450">
                <a:moveTo>
                  <a:pt x="0" y="0"/>
                </a:moveTo>
                <a:lnTo>
                  <a:pt x="448450" y="0"/>
                </a:lnTo>
                <a:lnTo>
                  <a:pt x="44845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537471" y="3002711"/>
            <a:ext cx="2584935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&lt;h1&gt;</a:t>
            </a:r>
            <a:r>
              <a:rPr lang="en-US" sz="1863" spc="-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Page Title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&lt;/h1&gt;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34750" y="3815996"/>
            <a:ext cx="2857034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&lt;p</a:t>
            </a:r>
            <a:r>
              <a:rPr lang="en-US" sz="1863" spc="-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a paragraph</a:t>
            </a:r>
          </a:p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of text.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&lt;/p&gt;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38771" y="4884758"/>
            <a:ext cx="2454961" cy="127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&lt;ul&gt;</a:t>
            </a:r>
          </a:p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740" spc="-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&lt;li&gt;Item one&lt;/li&gt;</a:t>
            </a:r>
          </a:p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&lt;li&gt;Item two&lt;/li&gt;</a:t>
            </a:r>
          </a:p>
          <a:p>
            <a:pPr algn="l">
              <a:lnSpc>
                <a:spcPts val="2610"/>
              </a:lnSpc>
            </a:pPr>
            <a:r>
              <a:rPr lang="en-US" sz="1740" spc="-69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&lt;/ul&gt;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17793" y="6557613"/>
            <a:ext cx="4552749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&lt;a href="</a:t>
            </a:r>
            <a:r>
              <a:rPr lang="en-US" sz="1863" spc="-74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about.html"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r>
              <a:rPr lang="en-US" sz="1863" spc="-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 more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&lt;/a&gt;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29308" y="7520963"/>
            <a:ext cx="3401231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&lt;button&gt;</a:t>
            </a:r>
            <a:r>
              <a:rPr lang="en-US" sz="1863" spc="-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Click me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&lt;/button&gt;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18424" y="8605344"/>
            <a:ext cx="4489627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&lt;img src="</a:t>
            </a:r>
            <a:r>
              <a:rPr lang="en-US" sz="1863" spc="-74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image.jpg"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 alt="</a:t>
            </a:r>
            <a:r>
              <a:rPr lang="en-US" sz="1863" spc="-74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Example image</a:t>
            </a:r>
            <a:r>
              <a:rPr lang="en-US" sz="1863" spc="-74">
                <a:solidFill>
                  <a:srgbClr val="F05643"/>
                </a:solidFill>
                <a:latin typeface="Inter"/>
                <a:ea typeface="Inter"/>
                <a:cs typeface="Inter"/>
                <a:sym typeface="Inter"/>
              </a:rPr>
              <a:t>" /&gt;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320622" y="1705390"/>
            <a:ext cx="6322048" cy="7947555"/>
          </a:xfrm>
          <a:custGeom>
            <a:avLst/>
            <a:gdLst/>
            <a:ahLst/>
            <a:cxnLst/>
            <a:rect r="r" b="b" t="t" l="l"/>
            <a:pathLst>
              <a:path h="7947555" w="6322048">
                <a:moveTo>
                  <a:pt x="0" y="0"/>
                </a:moveTo>
                <a:lnTo>
                  <a:pt x="6322048" y="0"/>
                </a:lnTo>
                <a:lnTo>
                  <a:pt x="6322048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47196" y="2142670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184708" y="2142670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403464" y="2142670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872163" y="3098143"/>
            <a:ext cx="2218046" cy="46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3537" b="true">
                <a:solidFill>
                  <a:srgbClr val="17171E"/>
                </a:solidFill>
                <a:latin typeface="Inter Bold"/>
                <a:ea typeface="Inter Bold"/>
                <a:cs typeface="Inter Bold"/>
                <a:sym typeface="Inter Bold"/>
              </a:rPr>
              <a:t>Page Title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66968" y="3755753"/>
            <a:ext cx="2737571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>
                <a:solidFill>
                  <a:srgbClr val="17171E"/>
                </a:solidFill>
                <a:latin typeface="Inter"/>
                <a:ea typeface="Inter"/>
                <a:cs typeface="Inter"/>
                <a:sym typeface="Inter"/>
              </a:rPr>
              <a:t>This is a paragraph of text.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81175" y="4343125"/>
            <a:ext cx="1316831" cy="664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2098" indent="-201049" lvl="1">
              <a:lnSpc>
                <a:spcPts val="2794"/>
              </a:lnSpc>
              <a:buFont typeface="Arial"/>
              <a:buChar char="•"/>
            </a:pPr>
            <a:r>
              <a:rPr lang="en-US" sz="1863" spc="-74">
                <a:solidFill>
                  <a:srgbClr val="17171E"/>
                </a:solidFill>
                <a:latin typeface="Inter"/>
                <a:ea typeface="Inter"/>
                <a:cs typeface="Inter"/>
                <a:sym typeface="Inter"/>
              </a:rPr>
              <a:t>Item one</a:t>
            </a:r>
          </a:p>
          <a:p>
            <a:pPr algn="l" marL="402098" indent="-201049" lvl="1">
              <a:lnSpc>
                <a:spcPts val="2794"/>
              </a:lnSpc>
              <a:buFont typeface="Arial"/>
              <a:buChar char="•"/>
            </a:pPr>
            <a:r>
              <a:rPr lang="en-US" sz="1863" spc="-74">
                <a:solidFill>
                  <a:srgbClr val="17171E"/>
                </a:solidFill>
                <a:latin typeface="Inter"/>
                <a:ea typeface="Inter"/>
                <a:cs typeface="Inter"/>
                <a:sym typeface="Inter"/>
              </a:rPr>
              <a:t>Item two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747196" y="5783021"/>
            <a:ext cx="1760986" cy="863627"/>
          </a:xfrm>
          <a:custGeom>
            <a:avLst/>
            <a:gdLst/>
            <a:ahLst/>
            <a:cxnLst/>
            <a:rect r="r" b="b" t="t" l="l"/>
            <a:pathLst>
              <a:path h="863627" w="1760986">
                <a:moveTo>
                  <a:pt x="0" y="0"/>
                </a:moveTo>
                <a:lnTo>
                  <a:pt x="1760986" y="0"/>
                </a:lnTo>
                <a:lnTo>
                  <a:pt x="176098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747196" y="6635716"/>
            <a:ext cx="5676718" cy="2798589"/>
          </a:xfrm>
          <a:custGeom>
            <a:avLst/>
            <a:gdLst/>
            <a:ahLst/>
            <a:cxnLst/>
            <a:rect r="r" b="b" t="t" l="l"/>
            <a:pathLst>
              <a:path h="2798589" w="5676718">
                <a:moveTo>
                  <a:pt x="0" y="0"/>
                </a:moveTo>
                <a:lnTo>
                  <a:pt x="5676718" y="0"/>
                </a:lnTo>
                <a:lnTo>
                  <a:pt x="567671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882988" y="5261837"/>
            <a:ext cx="1135600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74" u="sng">
                <a:solidFill>
                  <a:srgbClr val="98ACDE"/>
                </a:solidFill>
                <a:latin typeface="Inter"/>
                <a:ea typeface="Inter"/>
                <a:cs typeface="Inter"/>
                <a:sym typeface="Inter"/>
              </a:rPr>
              <a:t>Read more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54767" y="5984757"/>
            <a:ext cx="896830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spc="-7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Click 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2822" y="1016207"/>
            <a:ext cx="3727138" cy="207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7372" spc="-72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Forms</a:t>
            </a:r>
          </a:p>
          <a:p>
            <a:pPr algn="l">
              <a:lnSpc>
                <a:spcPts val="8107"/>
              </a:lnSpc>
            </a:pPr>
            <a:r>
              <a:rPr lang="en-US" sz="7372" spc="-72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in HTML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2420" y="3405013"/>
            <a:ext cx="4767388" cy="77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Build accessible, user-friendly input with semantic form elements.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0094" y="4711719"/>
            <a:ext cx="4955977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Use form elements to collect </a:t>
            </a:r>
          </a:p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and submit user input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564382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0094" y="5856343"/>
            <a:ext cx="4955977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Support text fields, choices, </a:t>
            </a:r>
          </a:p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and longer responses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6635716"/>
            <a:ext cx="5239206" cy="229572"/>
          </a:xfrm>
          <a:custGeom>
            <a:avLst/>
            <a:gdLst/>
            <a:ahLst/>
            <a:cxnLst/>
            <a:rect r="r" b="b" t="t" l="l"/>
            <a:pathLst>
              <a:path h="229572" w="5239206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0094" y="7000967"/>
            <a:ext cx="4955977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Validate input to ensure accurate, </a:t>
            </a:r>
          </a:p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secure data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707051"/>
            <a:ext cx="5239206" cy="437279"/>
          </a:xfrm>
          <a:custGeom>
            <a:avLst/>
            <a:gdLst/>
            <a:ahLst/>
            <a:cxnLst/>
            <a:rect r="r" b="b" t="t" l="l"/>
            <a:pathLst>
              <a:path h="437279" w="5239206">
                <a:moveTo>
                  <a:pt x="0" y="0"/>
                </a:moveTo>
                <a:lnTo>
                  <a:pt x="5239206" y="0"/>
                </a:lnTo>
                <a:lnTo>
                  <a:pt x="5239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0094" y="8130530"/>
            <a:ext cx="4955977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Prioritize accessibility with labels, </a:t>
            </a:r>
          </a:p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help text, and clear feedback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175196" y="634055"/>
            <a:ext cx="10467474" cy="9018889"/>
          </a:xfrm>
          <a:custGeom>
            <a:avLst/>
            <a:gdLst/>
            <a:ahLst/>
            <a:cxnLst/>
            <a:rect r="r" b="b" t="t" l="l"/>
            <a:pathLst>
              <a:path h="9018889" w="10467474">
                <a:moveTo>
                  <a:pt x="0" y="0"/>
                </a:moveTo>
                <a:lnTo>
                  <a:pt x="10467474" y="0"/>
                </a:lnTo>
                <a:lnTo>
                  <a:pt x="10467474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93952" y="852695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608094" y="1800765"/>
            <a:ext cx="9644062" cy="738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1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&lt;form action=</a:t>
            </a:r>
            <a:r>
              <a:rPr lang="en-US" sz="2387" b="true">
                <a:solidFill>
                  <a:srgbClr val="4BC648"/>
                </a:solidFill>
                <a:latin typeface="Inter Bold"/>
                <a:ea typeface="Inter Bold"/>
                <a:cs typeface="Inter Bold"/>
                <a:sym typeface="Inter Bold"/>
              </a:rPr>
              <a:t>"/submit"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 method=</a:t>
            </a:r>
            <a:r>
              <a:rPr lang="en-US" sz="2387" b="true">
                <a:solidFill>
                  <a:srgbClr val="4BC648"/>
                </a:solidFill>
                <a:latin typeface="Inter Bold"/>
                <a:ea typeface="Inter Bold"/>
                <a:cs typeface="Inter Bold"/>
                <a:sym typeface="Inter Bold"/>
              </a:rPr>
              <a:t>"post"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2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&lt;label for=</a:t>
            </a:r>
            <a:r>
              <a:rPr lang="en-US" sz="2387" b="true">
                <a:solidFill>
                  <a:srgbClr val="4BC648"/>
                </a:solidFill>
                <a:latin typeface="Inter Bold"/>
                <a:ea typeface="Inter Bold"/>
                <a:cs typeface="Inter Bold"/>
                <a:sym typeface="Inter Bold"/>
              </a:rPr>
              <a:t>"name"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&gt;Name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3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&lt;input type="text" id="name" name="name" required&gt;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4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  5 </a:t>
            </a: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&lt;label for="email"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&gt;Email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6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&lt;input type="email" id="email" name="email" required&gt;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7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  8 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&lt;p&gt;Preferred contact: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&lt;/p&gt;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9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10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&lt;input type="radio" name="contact" value="email" checked&gt;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11 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Email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12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13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14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&lt;input type="radio" name="contact" value="phone"&gt;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15 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Phone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16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&lt;/label&gt;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17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&lt;button type="submit" </a:t>
            </a:r>
            <a:r>
              <a:rPr lang="en-US" sz="23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Submit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&lt;/button&gt; </a:t>
            </a:r>
          </a:p>
          <a:p>
            <a:pPr algn="l">
              <a:lnSpc>
                <a:spcPts val="3343"/>
              </a:lnSpc>
            </a:pPr>
            <a:r>
              <a:rPr lang="en-US" sz="2387" b="true">
                <a:solidFill>
                  <a:srgbClr val="425268"/>
                </a:solidFill>
                <a:latin typeface="Inter Bold"/>
                <a:ea typeface="Inter Bold"/>
                <a:cs typeface="Inter Bold"/>
                <a:sym typeface="Inter Bold"/>
              </a:rPr>
              <a:t>  18 </a:t>
            </a:r>
            <a:r>
              <a:rPr lang="en-US" sz="2387" b="true">
                <a:solidFill>
                  <a:srgbClr val="F85644"/>
                </a:solidFill>
                <a:latin typeface="Inter Bold"/>
                <a:ea typeface="Inter Bold"/>
                <a:cs typeface="Inter Bold"/>
                <a:sym typeface="Inter Bold"/>
              </a:rPr>
              <a:t>&lt;/form&gt;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9866" y="634055"/>
            <a:ext cx="11331560" cy="7083928"/>
          </a:xfrm>
          <a:custGeom>
            <a:avLst/>
            <a:gdLst/>
            <a:ahLst/>
            <a:cxnLst/>
            <a:rect r="r" b="b" t="t" l="l"/>
            <a:pathLst>
              <a:path h="7083928" w="11331560">
                <a:moveTo>
                  <a:pt x="0" y="0"/>
                </a:moveTo>
                <a:lnTo>
                  <a:pt x="11331560" y="0"/>
                </a:lnTo>
                <a:lnTo>
                  <a:pt x="11331560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9866" y="7707051"/>
            <a:ext cx="11331560" cy="1945894"/>
          </a:xfrm>
          <a:custGeom>
            <a:avLst/>
            <a:gdLst/>
            <a:ahLst/>
            <a:cxnLst/>
            <a:rect r="r" b="b" t="t" l="l"/>
            <a:pathLst>
              <a:path h="1945894" w="11331560">
                <a:moveTo>
                  <a:pt x="0" y="0"/>
                </a:moveTo>
                <a:lnTo>
                  <a:pt x="11331560" y="0"/>
                </a:lnTo>
                <a:lnTo>
                  <a:pt x="11331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5641" y="958726"/>
            <a:ext cx="5087471" cy="219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166" spc="-69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Working with </a:t>
            </a:r>
            <a:r>
              <a:rPr lang="en-US" sz="7166" spc="-69" b="true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Tables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50" y="3572177"/>
            <a:ext cx="4154377" cy="90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526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Tables organize information in rows and columns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6935" y="5007572"/>
            <a:ext cx="3315862" cy="91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Use the right elements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for clear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099" y="6363048"/>
            <a:ext cx="3599463" cy="91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Make tables accessible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with captions and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9657" y="7703463"/>
            <a:ext cx="3043720" cy="91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Keep data readable</a:t>
            </a:r>
          </a:p>
          <a:p>
            <a:pPr algn="l">
              <a:lnSpc>
                <a:spcPts val="3717"/>
              </a:lnSpc>
            </a:pPr>
            <a:r>
              <a:rPr lang="en-US" sz="2478" spc="-2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and easy to navigate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2154" y="1227455"/>
            <a:ext cx="3480167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2267" spc="-22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Example: Quarterly Sales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956440" y="1924030"/>
            <a:ext cx="10467474" cy="5148966"/>
          </a:xfrm>
          <a:custGeom>
            <a:avLst/>
            <a:gdLst/>
            <a:ahLst/>
            <a:cxnLst/>
            <a:rect r="r" b="b" t="t" l="l"/>
            <a:pathLst>
              <a:path h="5148966" w="10467474">
                <a:moveTo>
                  <a:pt x="0" y="0"/>
                </a:moveTo>
                <a:lnTo>
                  <a:pt x="10467474" y="0"/>
                </a:lnTo>
                <a:lnTo>
                  <a:pt x="1046747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73064" y="2418977"/>
            <a:ext cx="1050311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Quarter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3652" y="2402201"/>
            <a:ext cx="1386948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2267" spc="-22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Product 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8400" y="2402201"/>
            <a:ext cx="1375999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2267" spc="-22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Product 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51550" y="2419814"/>
            <a:ext cx="1381088" cy="39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</a:pPr>
            <a:r>
              <a:rPr lang="en-US" b="true" sz="2223" spc="-21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Product 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02158" y="3429448"/>
            <a:ext cx="388296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-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5446" y="3436699"/>
            <a:ext cx="1104438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$12,500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48269" y="3451202"/>
            <a:ext cx="930183" cy="37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135" spc="-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$9,300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68162" y="3443951"/>
            <a:ext cx="930183" cy="39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</a:pPr>
            <a:r>
              <a:rPr lang="en-US" sz="2223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$7,800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02158" y="4390232"/>
            <a:ext cx="388296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2267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2158" y="5370902"/>
            <a:ext cx="388296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179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55446" y="5364487"/>
            <a:ext cx="1104438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$15,700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61141" y="5357236"/>
            <a:ext cx="110443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-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$11,600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568162" y="5370902"/>
            <a:ext cx="930183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179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$9,200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2158" y="6334796"/>
            <a:ext cx="388296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179" spc="-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91945" y="8169129"/>
            <a:ext cx="2250281" cy="36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055" spc="-20">
                <a:solidFill>
                  <a:srgbClr val="E45E4F"/>
                </a:solidFill>
                <a:latin typeface="Inter Bold"/>
                <a:ea typeface="Inter Bold"/>
                <a:cs typeface="Inter Bold"/>
                <a:sym typeface="Inter Bold"/>
              </a:rPr>
              <a:t>Accessibility Tips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51818" y="7925691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895891" y="8102590"/>
            <a:ext cx="1606216" cy="105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924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Add a caption</a:t>
            </a:r>
          </a:p>
          <a:p>
            <a:pPr algn="l">
              <a:lnSpc>
                <a:spcPts val="2887"/>
              </a:lnSpc>
            </a:pPr>
            <a:r>
              <a:rPr lang="en-US" sz="1924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to describe</a:t>
            </a:r>
          </a:p>
          <a:p>
            <a:pPr algn="l">
              <a:lnSpc>
                <a:spcPts val="2887"/>
              </a:lnSpc>
            </a:pPr>
            <a:r>
              <a:rPr lang="en-US" sz="1924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the table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7662" y="8102591"/>
            <a:ext cx="1925164" cy="105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924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Use scope on headers to show relationships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41172" y="8103204"/>
            <a:ext cx="2143780" cy="100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Provide a summary when the table</a:t>
            </a:r>
          </a:p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is complex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55446" y="4390232"/>
            <a:ext cx="1104438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2267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$14,200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61141" y="6318019"/>
            <a:ext cx="1104438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2267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$12,400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61141" y="4393342"/>
            <a:ext cx="110443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spc="-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$10,100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55446" y="6318019"/>
            <a:ext cx="1104438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2267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$16,900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520415" y="6318019"/>
            <a:ext cx="1104438" cy="41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2267" spc="-2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$10,300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68162" y="4415096"/>
            <a:ext cx="930183" cy="37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</a:pPr>
            <a:r>
              <a:rPr lang="en-US" sz="2135" spc="-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$8,400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2354" y="852695"/>
            <a:ext cx="11987828" cy="8581610"/>
          </a:xfrm>
          <a:custGeom>
            <a:avLst/>
            <a:gdLst/>
            <a:ahLst/>
            <a:cxnLst/>
            <a:rect r="r" b="b" t="t" l="l"/>
            <a:pathLst>
              <a:path h="8581610" w="11987828">
                <a:moveTo>
                  <a:pt x="0" y="0"/>
                </a:moveTo>
                <a:lnTo>
                  <a:pt x="11987828" y="0"/>
                </a:lnTo>
                <a:lnTo>
                  <a:pt x="1198782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3952" y="1071335"/>
            <a:ext cx="9592450" cy="6646648"/>
          </a:xfrm>
          <a:custGeom>
            <a:avLst/>
            <a:gdLst/>
            <a:ahLst/>
            <a:cxnLst/>
            <a:rect r="r" b="b" t="t" l="l"/>
            <a:pathLst>
              <a:path h="6646648" w="9592450">
                <a:moveTo>
                  <a:pt x="0" y="0"/>
                </a:moveTo>
                <a:lnTo>
                  <a:pt x="9592450" y="0"/>
                </a:lnTo>
                <a:lnTo>
                  <a:pt x="9592450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34773" y="1528760"/>
            <a:ext cx="476603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23">
                <a:solidFill>
                  <a:srgbClr val="E85745">
                    <a:alpha val="60000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4358" y="1528760"/>
            <a:ext cx="821293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23">
                <a:solidFill>
                  <a:srgbClr val="FFFFFF">
                    <a:alpha val="60000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1214" y="1528760"/>
            <a:ext cx="538597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spc="-23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94963" y="1528760"/>
            <a:ext cx="721381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spc="-23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JOURNAL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55762" y="1528760"/>
            <a:ext cx="757219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spc="-23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94442" y="2387227"/>
            <a:ext cx="833132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b="true" sz="1195" spc="-23">
                <a:solidFill>
                  <a:srgbClr val="E85745">
                    <a:alpha val="60000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FEATURED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2748" y="2652662"/>
            <a:ext cx="3002566" cy="101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3588" spc="-7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Exploring</a:t>
            </a:r>
          </a:p>
          <a:p>
            <a:pPr algn="l">
              <a:lnSpc>
                <a:spcPts val="3945"/>
              </a:lnSpc>
            </a:pPr>
            <a:r>
              <a:rPr lang="en-US" sz="3588" spc="-71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the Highlands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2515" y="3916584"/>
            <a:ext cx="3025842" cy="63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</a:pPr>
            <a:r>
              <a:rPr lang="en-US" sz="1195" spc="11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 journey through dramatic landscapes and remote trails. Watch the story</a:t>
            </a:r>
          </a:p>
          <a:p>
            <a:pPr algn="l">
              <a:lnSpc>
                <a:spcPts val="1792"/>
              </a:lnSpc>
            </a:pPr>
            <a:r>
              <a:rPr lang="en-US" sz="1195" spc="11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and browse the gallery.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31464" y="5138034"/>
            <a:ext cx="4582938" cy="2372241"/>
          </a:xfrm>
          <a:custGeom>
            <a:avLst/>
            <a:gdLst/>
            <a:ahLst/>
            <a:cxnLst/>
            <a:rect r="r" b="b" t="t" l="l"/>
            <a:pathLst>
              <a:path h="2372241" w="4582938">
                <a:moveTo>
                  <a:pt x="0" y="0"/>
                </a:moveTo>
                <a:lnTo>
                  <a:pt x="4582938" y="0"/>
                </a:lnTo>
                <a:lnTo>
                  <a:pt x="458293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03464" y="5138034"/>
            <a:ext cx="2187560" cy="2372241"/>
          </a:xfrm>
          <a:custGeom>
            <a:avLst/>
            <a:gdLst/>
            <a:ahLst/>
            <a:cxnLst/>
            <a:rect r="r" b="b" t="t" l="l"/>
            <a:pathLst>
              <a:path h="2372241" w="2187560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80086" y="5138034"/>
            <a:ext cx="1968804" cy="2372241"/>
          </a:xfrm>
          <a:custGeom>
            <a:avLst/>
            <a:gdLst/>
            <a:ahLst/>
            <a:cxnLst/>
            <a:rect r="r" b="b" t="t" l="l"/>
            <a:pathLst>
              <a:path h="2372241" w="1968804">
                <a:moveTo>
                  <a:pt x="0" y="0"/>
                </a:moveTo>
                <a:lnTo>
                  <a:pt x="1968804" y="0"/>
                </a:lnTo>
                <a:lnTo>
                  <a:pt x="196880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31464" y="7280704"/>
            <a:ext cx="4364182" cy="229572"/>
          </a:xfrm>
          <a:custGeom>
            <a:avLst/>
            <a:gdLst/>
            <a:ahLst/>
            <a:cxnLst/>
            <a:rect r="r" b="b" t="t" l="l"/>
            <a:pathLst>
              <a:path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50220" y="7062064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20622" y="7062064"/>
            <a:ext cx="437512" cy="448211"/>
          </a:xfrm>
          <a:custGeom>
            <a:avLst/>
            <a:gdLst/>
            <a:ahLst/>
            <a:cxnLst/>
            <a:rect r="r" b="b" t="t" l="l"/>
            <a:pathLst>
              <a:path h="448211" w="437512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65952" y="7062064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65928" y="1172046"/>
            <a:ext cx="4490054" cy="102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1"/>
              </a:lnSpc>
            </a:pPr>
            <a:r>
              <a:rPr lang="en-US" sz="7611" spc="-226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Managing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6637" y="2367988"/>
            <a:ext cx="3098043" cy="9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7"/>
              </a:lnSpc>
            </a:pPr>
            <a:r>
              <a:rPr lang="en-US" sz="7347" spc="-147" b="true">
                <a:solidFill>
                  <a:srgbClr val="E85745"/>
                </a:solidFill>
                <a:latin typeface="Inter Bold"/>
                <a:ea typeface="Inter Bold"/>
                <a:cs typeface="Inter Bold"/>
                <a:sym typeface="Inter Bold"/>
              </a:rPr>
              <a:t>Assets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437" y="3625717"/>
            <a:ext cx="5217974" cy="73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Embed and optimise images and video for fast, accessible experiences.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64086" y="491939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48732" y="5429301"/>
            <a:ext cx="3714283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22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&lt;img&gt;, &lt;video&gt;, &lt;picture&gt;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64086" y="599072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54924" y="6145911"/>
            <a:ext cx="3095109" cy="74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153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Add </a:t>
            </a:r>
            <a:r>
              <a:rPr lang="en-US" sz="2153" spc="21">
                <a:solidFill>
                  <a:srgbClr val="E8574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alt text</a:t>
            </a:r>
            <a:r>
              <a:rPr lang="en-US" sz="2153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 for images to support accessibility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64086" y="706206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52133" y="7225469"/>
            <a:ext cx="3374183" cy="73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Serve </a:t>
            </a:r>
            <a:r>
              <a:rPr lang="en-US" sz="2192" spc="21">
                <a:solidFill>
                  <a:srgbClr val="E8574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responsive</a:t>
            </a:r>
            <a:r>
              <a:rPr lang="en-US" sz="2192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 images for all screen sizes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64086" y="813339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54857" y="8275800"/>
            <a:ext cx="3101769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22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Include </a:t>
            </a:r>
            <a:r>
              <a:rPr lang="en-US" sz="2267" spc="22">
                <a:solidFill>
                  <a:srgbClr val="E85745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video controls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7855" y="8655695"/>
            <a:ext cx="3801957" cy="35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2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for a better user experience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3257" y="5037719"/>
            <a:ext cx="3261761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22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Use the right elements: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6192" y="7146453"/>
            <a:ext cx="729446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spc="-23">
                <a:solidFill>
                  <a:srgbClr val="FFFFFF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0:00 / 1:28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180" y="883927"/>
            <a:ext cx="4691340" cy="282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6732" spc="-65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Embedding External </a:t>
            </a:r>
            <a:r>
              <a:rPr lang="en-US" sz="6732" spc="-65" b="true">
                <a:solidFill>
                  <a:srgbClr val="E95645"/>
                </a:solidFill>
                <a:latin typeface="Inter Bold"/>
                <a:ea typeface="Inter Bold"/>
                <a:cs typeface="Inter Bold"/>
                <a:sym typeface="Inter Bold"/>
              </a:rPr>
              <a:t>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5857" y="4343265"/>
            <a:ext cx="5102607" cy="7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19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Use &lt;audio&gt;, &lt;iframe&gt;, &lt;embed&gt;,</a:t>
            </a:r>
          </a:p>
          <a:p>
            <a:pPr algn="l">
              <a:lnSpc>
                <a:spcPts val="3289"/>
              </a:lnSpc>
            </a:pPr>
            <a:r>
              <a:rPr lang="en-US" sz="219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and &lt;object&gt; to bring in external media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5564382"/>
            <a:ext cx="6759560" cy="229572"/>
          </a:xfrm>
          <a:custGeom>
            <a:avLst/>
            <a:gdLst/>
            <a:ahLst/>
            <a:cxnLst/>
            <a:rect r="r" b="b" t="t" l="l"/>
            <a:pathLst>
              <a:path h="229572" w="6759560">
                <a:moveTo>
                  <a:pt x="0" y="0"/>
                </a:moveTo>
                <a:lnTo>
                  <a:pt x="6759560" y="0"/>
                </a:lnTo>
                <a:lnTo>
                  <a:pt x="6759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37" y="5876556"/>
            <a:ext cx="6414592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Embed videos and audio for richer experiences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6428009"/>
            <a:ext cx="6759560" cy="218640"/>
          </a:xfrm>
          <a:custGeom>
            <a:avLst/>
            <a:gdLst/>
            <a:ahLst/>
            <a:cxnLst/>
            <a:rect r="r" b="b" t="t" l="l"/>
            <a:pathLst>
              <a:path h="218640" w="675956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4563" y="6909897"/>
            <a:ext cx="4231965" cy="80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23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Secure iframes with sandboxing</a:t>
            </a:r>
          </a:p>
          <a:p>
            <a:pPr algn="l">
              <a:lnSpc>
                <a:spcPts val="3348"/>
              </a:lnSpc>
            </a:pPr>
            <a:r>
              <a:rPr lang="en-US" sz="223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and limit permissions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7925691"/>
            <a:ext cx="6759560" cy="218640"/>
          </a:xfrm>
          <a:custGeom>
            <a:avLst/>
            <a:gdLst/>
            <a:ahLst/>
            <a:cxnLst/>
            <a:rect r="r" b="b" t="t" l="l"/>
            <a:pathLst>
              <a:path h="218640" w="675956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4677" y="8340677"/>
            <a:ext cx="5220613" cy="80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23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Optimize performance with lazy loading</a:t>
            </a:r>
          </a:p>
          <a:p>
            <a:pPr algn="l">
              <a:lnSpc>
                <a:spcPts val="3348"/>
              </a:lnSpc>
            </a:pPr>
            <a:r>
              <a:rPr lang="en-US" sz="2232" spc="-21">
                <a:solidFill>
                  <a:srgbClr val="B8B8B8"/>
                </a:solidFill>
                <a:latin typeface="Inter"/>
                <a:ea typeface="Inter"/>
                <a:cs typeface="Inter"/>
                <a:sym typeface="Inter"/>
              </a:rPr>
              <a:t>and efficient sources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268976" y="426348"/>
            <a:ext cx="9373694" cy="6220301"/>
          </a:xfrm>
          <a:custGeom>
            <a:avLst/>
            <a:gdLst/>
            <a:ahLst/>
            <a:cxnLst/>
            <a:rect r="r" b="b" t="t" l="l"/>
            <a:pathLst>
              <a:path h="6220301" w="9373694">
                <a:moveTo>
                  <a:pt x="0" y="0"/>
                </a:moveTo>
                <a:lnTo>
                  <a:pt x="9373694" y="0"/>
                </a:lnTo>
                <a:lnTo>
                  <a:pt x="9373694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6488" y="634055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63442" y="1526190"/>
            <a:ext cx="6447199" cy="256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546270"/>
                </a:solidFill>
                <a:latin typeface="Inter Medium"/>
                <a:ea typeface="Inter Medium"/>
                <a:cs typeface="Inter Medium"/>
                <a:sym typeface="Inter Medium"/>
              </a:rPr>
              <a:t>&lt;!-- Embed a YouTube video --&gt;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&lt;iframe </a:t>
            </a:r>
            <a:r>
              <a:rPr lang="en-US" sz="1740" spc="-51" b="true">
                <a:solidFill>
                  <a:srgbClr val="B8B8B8"/>
                </a:solidFill>
                <a:latin typeface="Inter Medium"/>
                <a:ea typeface="Inter Medium"/>
                <a:cs typeface="Inter Medium"/>
                <a:sym typeface="Inter Medium"/>
              </a:rPr>
              <a:t>width="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560"</a:t>
            </a: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740" spc="-51" b="true">
                <a:solidFill>
                  <a:srgbClr val="B8B8B8"/>
                </a:solidFill>
                <a:latin typeface="Inter Medium"/>
                <a:ea typeface="Inter Medium"/>
                <a:cs typeface="Inter Medium"/>
                <a:sym typeface="Inter Medium"/>
              </a:rPr>
              <a:t>height="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315"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src="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https://www.youtube.com/embed/dQw4w9WgXcQ"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title="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YouTube video"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sandbox="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allow scripts allow same-origin"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allow="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accelerometer; autoplay; clipboard-write;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B87A64"/>
                </a:solidFill>
                <a:latin typeface="Inter Medium"/>
                <a:ea typeface="Inter Medium"/>
                <a:cs typeface="Inter Medium"/>
                <a:sym typeface="Inter Medium"/>
              </a:rPr>
              <a:t>encrypted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-media; gyroscope; picture-in-picture"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 allowfullscreen</a:t>
            </a:r>
            <a:r>
              <a:rPr lang="en-US" sz="1740" spc="-51" b="true">
                <a:solidFill>
                  <a:srgbClr val="B87A64"/>
                </a:solidFill>
                <a:latin typeface="Inter Medium"/>
                <a:ea typeface="Inter Medium"/>
                <a:cs typeface="Inter Medium"/>
                <a:sym typeface="Inter Medium"/>
              </a:rPr>
              <a:t>&lt;/iframe&gt;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54232" y="4583541"/>
            <a:ext cx="7368229" cy="159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546270"/>
                </a:solidFill>
                <a:latin typeface="Inter Medium"/>
                <a:ea typeface="Inter Medium"/>
                <a:cs typeface="Inter Medium"/>
                <a:sym typeface="Inter Medium"/>
              </a:rPr>
              <a:t>&lt;!-- Embed an audio player --&gt;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&lt;audio </a:t>
            </a:r>
            <a:r>
              <a:rPr lang="en-US" sz="1740" spc="-51" b="true">
                <a:solidFill>
                  <a:srgbClr val="B8B8B8"/>
                </a:solidFill>
                <a:latin typeface="Inter Medium"/>
                <a:ea typeface="Inter Medium"/>
                <a:cs typeface="Inter Medium"/>
                <a:sym typeface="Inter Medium"/>
              </a:rPr>
              <a:t>controls preload="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metadata"&gt;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740" spc="-51" b="true">
                <a:solidFill>
                  <a:srgbClr val="B87A64"/>
                </a:solidFill>
                <a:latin typeface="Inter Medium"/>
                <a:ea typeface="Inter Medium"/>
                <a:cs typeface="Inter Medium"/>
                <a:sym typeface="Inter Medium"/>
              </a:rPr>
              <a:t>&lt;source src="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audio/sample-audio.mp3"</a:t>
            </a:r>
            <a:r>
              <a:rPr lang="en-US" sz="1740" spc="-51" b="true">
                <a:solidFill>
                  <a:srgbClr val="B87A64"/>
                </a:solidFill>
                <a:latin typeface="Inter Medium"/>
                <a:ea typeface="Inter Medium"/>
                <a:cs typeface="Inter Medium"/>
                <a:sym typeface="Inter Medium"/>
              </a:rPr>
              <a:t> type="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audio/mpeg"</a:t>
            </a:r>
            <a:r>
              <a:rPr lang="en-US" sz="1740" spc="-51" b="true">
                <a:solidFill>
                  <a:srgbClr val="B8B8B8"/>
                </a:solidFill>
                <a:latin typeface="Inter Medium"/>
                <a:ea typeface="Inter Medium"/>
                <a:cs typeface="Inter Medium"/>
                <a:sym typeface="Inter Medium"/>
              </a:rPr>
              <a:t>&gt;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B8B8B8"/>
                </a:solidFill>
                <a:latin typeface="Inter Medium"/>
                <a:ea typeface="Inter Medium"/>
                <a:cs typeface="Inter Medium"/>
                <a:sym typeface="Inter Medium"/>
              </a:rPr>
              <a:t> Your browser does not support the audio element.</a:t>
            </a:r>
          </a:p>
          <a:p>
            <a:pPr algn="l">
              <a:lnSpc>
                <a:spcPts val="2610"/>
              </a:lnSpc>
            </a:pPr>
            <a:r>
              <a:rPr lang="en-US" sz="1740" spc="-51" b="true">
                <a:solidFill>
                  <a:srgbClr val="E95645"/>
                </a:solidFill>
                <a:latin typeface="Inter Medium"/>
                <a:ea typeface="Inter Medium"/>
                <a:cs typeface="Inter Medium"/>
                <a:sym typeface="Inter Medium"/>
              </a:rPr>
              <a:t>/audio</a:t>
            </a:r>
            <a:r>
              <a:rPr lang="en-US" sz="1740" spc="-51" b="true">
                <a:solidFill>
                  <a:srgbClr val="7EC05C"/>
                </a:solidFill>
                <a:latin typeface="Inter Medium"/>
                <a:ea typeface="Inter Medium"/>
                <a:cs typeface="Inter Medium"/>
                <a:sym typeface="Inter Medium"/>
              </a:rPr>
              <a:t>&gt;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268976" y="6635716"/>
            <a:ext cx="9373694" cy="3224936"/>
          </a:xfrm>
          <a:custGeom>
            <a:avLst/>
            <a:gdLst/>
            <a:ahLst/>
            <a:cxnLst/>
            <a:rect r="r" b="b" t="t" l="l"/>
            <a:pathLst>
              <a:path h="3224936" w="9373694">
                <a:moveTo>
                  <a:pt x="0" y="0"/>
                </a:moveTo>
                <a:lnTo>
                  <a:pt x="9373694" y="0"/>
                </a:lnTo>
                <a:lnTo>
                  <a:pt x="937369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807" y="763918"/>
            <a:ext cx="6028664" cy="227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0"/>
              </a:lnSpc>
            </a:pPr>
            <a:r>
              <a:rPr lang="en-US" sz="7854" spc="-157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Navigation &amp; </a:t>
            </a:r>
            <a:r>
              <a:rPr lang="en-US" sz="7854" spc="-157" b="true">
                <a:solidFill>
                  <a:srgbClr val="F46254"/>
                </a:solidFill>
                <a:latin typeface="Inter Bold"/>
                <a:ea typeface="Inter Bold"/>
                <a:cs typeface="Inter Bold"/>
                <a:sym typeface="Inter Bold"/>
              </a:rPr>
              <a:t>Links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9922" y="3214495"/>
            <a:ext cx="6017147" cy="45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Build clear navigation with the right links.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206" y="4830218"/>
            <a:ext cx="5088770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Internal, external, anchor links, mailto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564382"/>
            <a:ext cx="7197072" cy="229572"/>
          </a:xfrm>
          <a:custGeom>
            <a:avLst/>
            <a:gdLst/>
            <a:ahLst/>
            <a:cxnLst/>
            <a:rect r="r" b="b" t="t" l="l"/>
            <a:pathLst>
              <a:path h="229572" w="71970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1091" y="6004963"/>
            <a:ext cx="290025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Bold"/>
                <a:ea typeface="Inter Bold"/>
                <a:cs typeface="Inter Bold"/>
                <a:sym typeface="Inter Bold"/>
              </a:rPr>
              <a:t>Navigation elements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062064"/>
            <a:ext cx="7197072" cy="229572"/>
          </a:xfrm>
          <a:custGeom>
            <a:avLst/>
            <a:gdLst/>
            <a:ahLst/>
            <a:cxnLst/>
            <a:rect r="r" b="b" t="t" l="l"/>
            <a:pathLst>
              <a:path h="229572" w="71970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7849" y="8057825"/>
            <a:ext cx="6224427" cy="87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355" spc="-47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Relative: paths from your current page</a:t>
            </a:r>
          </a:p>
          <a:p>
            <a:pPr algn="l">
              <a:lnSpc>
                <a:spcPts val="3533"/>
              </a:lnSpc>
            </a:pPr>
            <a:r>
              <a:rPr lang="en-US" sz="2355" spc="-47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Absolute: full URL with protocol and domain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06488" y="852695"/>
            <a:ext cx="8936182" cy="8581610"/>
          </a:xfrm>
          <a:custGeom>
            <a:avLst/>
            <a:gdLst/>
            <a:ahLst/>
            <a:cxnLst/>
            <a:rect r="r" b="b" t="t" l="l"/>
            <a:pathLst>
              <a:path h="8581610" w="8936182">
                <a:moveTo>
                  <a:pt x="0" y="0"/>
                </a:moveTo>
                <a:lnTo>
                  <a:pt x="8936182" y="0"/>
                </a:lnTo>
                <a:lnTo>
                  <a:pt x="8936182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25244" y="1071335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99476" y="2601213"/>
            <a:ext cx="88057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&lt;nav&gt;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97714" y="3128343"/>
            <a:ext cx="105668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  &lt;ul&gt;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4606" y="3700655"/>
            <a:ext cx="6340131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&lt;li&gt;&lt;a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index.html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"</a:t>
            </a:r>
            <a:r>
              <a:rPr lang="en-US" sz="2311" spc="-4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Home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&lt;/a&gt;&lt;li&gt;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2845" y="4212723"/>
            <a:ext cx="651624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&lt;li&gt;&lt;a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about.html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"</a:t>
            </a:r>
            <a:r>
              <a:rPr lang="en-US" sz="2311" spc="-4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About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&lt;/a&gt;&lt;li&gt;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4606" y="4724792"/>
            <a:ext cx="6340131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&lt;li&gt;&lt;a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/blog.html</a:t>
            </a:r>
            <a:r>
              <a:rPr lang="en-US" sz="2311" spc="-4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"Blog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&lt;/a&gt;&lt;li&gt;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1084" y="5251921"/>
            <a:ext cx="6692361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&lt;li&gt;&lt;a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#contact"</a:t>
            </a:r>
            <a:r>
              <a:rPr lang="en-US" sz="2311" spc="-46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&gt;Contact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&lt;/a&gt;&lt;li&gt;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9890" y="5779051"/>
            <a:ext cx="581178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&lt;li&gt;&lt;a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https://example.com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09323" y="6833310"/>
            <a:ext cx="686847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&lt;li&gt;ca href="</a:t>
            </a:r>
            <a:r>
              <a:rPr lang="en-US" sz="2311" spc="-46" b="true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mailto:hello@example.com</a:t>
            </a: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"&gt;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48567" y="7405622"/>
            <a:ext cx="246560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Email</a:t>
            </a:r>
            <a:r>
              <a:rPr lang="en-US" b="true" sz="2311" spc="-46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&lt;/a&gt;&lt;/li&gt;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95953" y="7962873"/>
            <a:ext cx="123280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  &lt;/ul&gt;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97714" y="8565306"/>
            <a:ext cx="105668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&lt;/nav&gt;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1645" y="6486910"/>
            <a:ext cx="584482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Use </a:t>
            </a:r>
            <a:r>
              <a:rPr lang="en-US" sz="2311" spc="-46" b="true">
                <a:solidFill>
                  <a:srgbClr val="F46254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&lt;nav&gt;</a:t>
            </a:r>
            <a:r>
              <a:rPr lang="en-US" sz="2311" spc="-46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 for landmarks and </a:t>
            </a:r>
            <a:r>
              <a:rPr lang="en-US" sz="2311" spc="-46" b="true">
                <a:solidFill>
                  <a:srgbClr val="F46254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&lt;a&gt;</a:t>
            </a:r>
            <a:r>
              <a:rPr lang="en-US" sz="2311" spc="-46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 for links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73098" y="6306180"/>
            <a:ext cx="563567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target=</a:t>
            </a:r>
            <a:r>
              <a:rPr lang="en-US" b="true" sz="2311" spc="-4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_</a:t>
            </a:r>
            <a:r>
              <a:rPr lang="en-US" b="true" sz="2311" spc="-46">
                <a:solidFill>
                  <a:srgbClr val="7ED957"/>
                </a:solidFill>
                <a:latin typeface="Inter Medium"/>
                <a:ea typeface="Inter Medium"/>
                <a:cs typeface="Inter Medium"/>
                <a:sym typeface="Inter Medium"/>
              </a:rPr>
              <a:t>blank"</a:t>
            </a:r>
            <a:r>
              <a:rPr lang="en-US" b="true" sz="2311" spc="-46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&gt;External</a:t>
            </a:r>
            <a:r>
              <a:rPr lang="en-US" b="true" sz="2311" spc="-46">
                <a:solidFill>
                  <a:srgbClr val="F46254"/>
                </a:solidFill>
                <a:latin typeface="Inter Medium"/>
                <a:ea typeface="Inter Medium"/>
                <a:cs typeface="Inter Medium"/>
                <a:sym typeface="Inter Medium"/>
              </a:rPr>
              <a:t>&lt;/a&gt;&lt;/li&gt;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53686" y="2028901"/>
            <a:ext cx="5459558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FFFFF">
                    <a:alpha val="7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&lt;!-- navigation bar example --&gt;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3033" y="7586352"/>
            <a:ext cx="3706107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Bold"/>
                <a:ea typeface="Inter Bold"/>
                <a:cs typeface="Inter Bold"/>
                <a:sym typeface="Inter Bold"/>
              </a:rPr>
              <a:t>Relative vs. absolute URLs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5616" y="4348271"/>
            <a:ext cx="1447754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46" b="true">
                <a:solidFill>
                  <a:srgbClr val="F46254"/>
                </a:solidFill>
                <a:latin typeface="Inter Bold"/>
                <a:ea typeface="Inter Bold"/>
                <a:cs typeface="Inter Bold"/>
                <a:sym typeface="Inter Bold"/>
              </a:rPr>
              <a:t>Link types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7330" y="852695"/>
            <a:ext cx="12644096" cy="9226597"/>
          </a:xfrm>
          <a:custGeom>
            <a:avLst/>
            <a:gdLst/>
            <a:ahLst/>
            <a:cxnLst/>
            <a:rect r="r" b="b" t="t" l="l"/>
            <a:pathLst>
              <a:path h="9226597" w="12644096">
                <a:moveTo>
                  <a:pt x="0" y="0"/>
                </a:moveTo>
                <a:lnTo>
                  <a:pt x="12644096" y="0"/>
                </a:lnTo>
                <a:lnTo>
                  <a:pt x="12644096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1540" y="1472848"/>
            <a:ext cx="4497564" cy="114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8"/>
              </a:lnSpc>
            </a:pPr>
            <a:r>
              <a:rPr lang="en-US" sz="8678" spc="-258" b="true">
                <a:solidFill>
                  <a:srgbClr val="F1F1F1"/>
                </a:solidFill>
                <a:latin typeface="Inter Bold"/>
                <a:ea typeface="Inter Bold"/>
                <a:cs typeface="Inter Bold"/>
                <a:sym typeface="Inter Bold"/>
              </a:rPr>
              <a:t>Practical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655" y="2622073"/>
            <a:ext cx="2886034" cy="116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spc="-262" b="true">
                <a:solidFill>
                  <a:srgbClr val="EF5441"/>
                </a:solidFill>
                <a:latin typeface="Inter Bold"/>
                <a:ea typeface="Inter Bold"/>
                <a:cs typeface="Inter Bold"/>
                <a:sym typeface="Inter Bold"/>
              </a:rPr>
              <a:t>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0577" y="4132515"/>
            <a:ext cx="5630542" cy="36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82" b="true">
                <a:solidFill>
                  <a:srgbClr val="B4B4B4"/>
                </a:solidFill>
                <a:latin typeface="Inter Medium"/>
                <a:ea typeface="Inter Medium"/>
                <a:cs typeface="Inter Medium"/>
                <a:sym typeface="Inter Medium"/>
              </a:rPr>
              <a:t>Build faster. See changes </a:t>
            </a:r>
            <a:r>
              <a:rPr lang="en-US" sz="2759" spc="-82" b="true">
                <a:solidFill>
                  <a:srgbClr val="EF5441"/>
                </a:solidFill>
                <a:latin typeface="Inter Medium"/>
                <a:ea typeface="Inter Medium"/>
                <a:cs typeface="Inter Medium"/>
                <a:sym typeface="Inter Medium"/>
              </a:rPr>
              <a:t>instantly.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711687"/>
            <a:ext cx="6322048" cy="218640"/>
          </a:xfrm>
          <a:custGeom>
            <a:avLst/>
            <a:gdLst/>
            <a:ahLst/>
            <a:cxnLst/>
            <a:rect r="r" b="b" t="t" l="l"/>
            <a:pathLst>
              <a:path h="218640" w="6322048">
                <a:moveTo>
                  <a:pt x="0" y="0"/>
                </a:moveTo>
                <a:lnTo>
                  <a:pt x="6322048" y="0"/>
                </a:lnTo>
                <a:lnTo>
                  <a:pt x="6322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2860" y="5192142"/>
            <a:ext cx="540231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B4B4B4"/>
                </a:solidFill>
                <a:latin typeface="Inter Medium"/>
                <a:ea typeface="Inter Medium"/>
                <a:cs typeface="Inter Medium"/>
                <a:sym typeface="Inter Medium"/>
              </a:rPr>
              <a:t>Live Server refreshes pages in </a:t>
            </a:r>
            <a:r>
              <a:rPr lang="en-US" sz="2351" spc="-70" b="true">
                <a:solidFill>
                  <a:srgbClr val="EF5441"/>
                </a:solidFill>
                <a:latin typeface="Inter Medium"/>
                <a:ea typeface="Inter Medium"/>
                <a:cs typeface="Inter Medium"/>
                <a:sym typeface="Inter Medium"/>
              </a:rPr>
              <a:t>real time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564382"/>
            <a:ext cx="6322048" cy="437279"/>
          </a:xfrm>
          <a:custGeom>
            <a:avLst/>
            <a:gdLst/>
            <a:ahLst/>
            <a:cxnLst/>
            <a:rect r="r" b="b" t="t" l="l"/>
            <a:pathLst>
              <a:path h="437279" w="6322048">
                <a:moveTo>
                  <a:pt x="0" y="0"/>
                </a:moveTo>
                <a:lnTo>
                  <a:pt x="6322048" y="0"/>
                </a:lnTo>
                <a:lnTo>
                  <a:pt x="6322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5297" y="6119661"/>
            <a:ext cx="6158594" cy="28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spc="-66" b="true">
                <a:solidFill>
                  <a:srgbClr val="B4B4B4"/>
                </a:solidFill>
                <a:latin typeface="Inter Medium"/>
                <a:ea typeface="Inter Medium"/>
                <a:cs typeface="Inter Medium"/>
                <a:sym typeface="Inter Medium"/>
              </a:rPr>
              <a:t>Modern editors and extensions streamline work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635716"/>
            <a:ext cx="6322048" cy="229572"/>
          </a:xfrm>
          <a:custGeom>
            <a:avLst/>
            <a:gdLst/>
            <a:ahLst/>
            <a:cxnLst/>
            <a:rect r="r" b="b" t="t" l="l"/>
            <a:pathLst>
              <a:path h="229572" w="6322048">
                <a:moveTo>
                  <a:pt x="0" y="0"/>
                </a:moveTo>
                <a:lnTo>
                  <a:pt x="6322048" y="0"/>
                </a:lnTo>
                <a:lnTo>
                  <a:pt x="6322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0441" y="7074748"/>
            <a:ext cx="564420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B4B4B4"/>
                </a:solidFill>
                <a:latin typeface="Inter Medium"/>
                <a:ea typeface="Inter Medium"/>
                <a:cs typeface="Inter Medium"/>
                <a:sym typeface="Inter Medium"/>
              </a:rPr>
              <a:t>Version control keeps your progress safe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7499343"/>
            <a:ext cx="6322048" cy="218640"/>
          </a:xfrm>
          <a:custGeom>
            <a:avLst/>
            <a:gdLst/>
            <a:ahLst/>
            <a:cxnLst/>
            <a:rect r="r" b="b" t="t" l="l"/>
            <a:pathLst>
              <a:path h="218640" w="6322048">
                <a:moveTo>
                  <a:pt x="0" y="0"/>
                </a:moveTo>
                <a:lnTo>
                  <a:pt x="6322048" y="0"/>
                </a:lnTo>
                <a:lnTo>
                  <a:pt x="6322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9927" y="8053702"/>
            <a:ext cx="5695622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B4B4B4"/>
                </a:solidFill>
                <a:latin typeface="Inter Medium"/>
                <a:ea typeface="Inter Medium"/>
                <a:cs typeface="Inter Medium"/>
                <a:sym typeface="Inter Medium"/>
              </a:rPr>
              <a:t>A smooth workflow from code to browser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2937" y="1257948"/>
            <a:ext cx="6467984" cy="224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7"/>
              </a:lnSpc>
            </a:pPr>
            <a:r>
              <a:rPr lang="en-US" sz="8707" spc="-259" b="true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Thank You &amp; </a:t>
            </a:r>
            <a:r>
              <a:rPr lang="en-US" sz="8707" spc="-259" b="true">
                <a:solidFill>
                  <a:srgbClr val="F85846"/>
                </a:solidFill>
                <a:latin typeface="Inter Bold"/>
                <a:ea typeface="Inter Bold"/>
                <a:cs typeface="Inter Bold"/>
                <a:sym typeface="Inter Bold"/>
              </a:rPr>
              <a:t>Next Steps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848060"/>
            <a:ext cx="5895474" cy="229572"/>
          </a:xfrm>
          <a:custGeom>
            <a:avLst/>
            <a:gdLst/>
            <a:ahLst/>
            <a:cxnLst/>
            <a:rect r="r" b="b" t="t" l="l"/>
            <a:pathLst>
              <a:path h="229572" w="5895474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329" y="4368759"/>
            <a:ext cx="6107733" cy="224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8"/>
              </a:lnSpc>
            </a:pPr>
            <a:r>
              <a:rPr lang="en-US" sz="243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Thank you for exploring HTML essentials</a:t>
            </a:r>
          </a:p>
          <a:p>
            <a:pPr algn="l">
              <a:lnSpc>
                <a:spcPts val="4618"/>
              </a:lnSpc>
            </a:pPr>
            <a:r>
              <a:rPr lang="en-US" sz="243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Keep building and experimenting</a:t>
            </a:r>
          </a:p>
          <a:p>
            <a:pPr algn="l">
              <a:lnSpc>
                <a:spcPts val="4618"/>
              </a:lnSpc>
            </a:pPr>
            <a:r>
              <a:rPr lang="en-US" sz="243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Practice with the examples</a:t>
            </a:r>
          </a:p>
          <a:p>
            <a:pPr algn="l">
              <a:lnSpc>
                <a:spcPts val="4618"/>
              </a:lnSpc>
            </a:pPr>
            <a:r>
              <a:rPr lang="en-US" sz="243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Continue learning from trusted resources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7062064"/>
            <a:ext cx="7415828" cy="2590881"/>
          </a:xfrm>
          <a:custGeom>
            <a:avLst/>
            <a:gdLst/>
            <a:ahLst/>
            <a:cxnLst/>
            <a:rect r="r" b="b" t="t" l="l"/>
            <a:pathLst>
              <a:path h="2590881" w="7415828">
                <a:moveTo>
                  <a:pt x="0" y="0"/>
                </a:moveTo>
                <a:lnTo>
                  <a:pt x="7415828" y="0"/>
                </a:lnTo>
                <a:lnTo>
                  <a:pt x="741582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31796" y="7538290"/>
            <a:ext cx="3444613" cy="413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863" b="true">
                <a:solidFill>
                  <a:srgbClr val="F85846"/>
                </a:solidFill>
                <a:latin typeface="Inter Bold"/>
                <a:ea typeface="Inter Bold"/>
                <a:cs typeface="Inter Bold"/>
                <a:sym typeface="Inter Bold"/>
              </a:rPr>
              <a:t>RECOMMENDED RESOURCES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9877" y="8028944"/>
            <a:ext cx="5636507" cy="49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26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MDN Web Docs — developer.mozilla.org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118" y="8648992"/>
            <a:ext cx="5012424" cy="5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2311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W3Schools — www.w3schools.com</a:t>
            </a:r>
          </a:p>
        </p:txBody>
      </p:sp>
      <p:sp>
        <p:nvSpPr>
          <p:cNvPr name="TextBox 10" id="10"/>
          <p:cNvSpPr txBox="true"/>
          <p:nvPr/>
        </p:nvSpPr>
        <p:spPr>
          <a:xfrm rot="-437695">
            <a:off x="9851901" y="755478"/>
            <a:ext cx="8036354" cy="742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&lt;!DOCTYPE </a:t>
            </a:r>
            <a:r>
              <a:rPr lang="en-US" sz="3577" i="true" b="true">
                <a:solidFill>
                  <a:srgbClr val="3F4E5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html</a:t>
            </a: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&lt;html </a:t>
            </a:r>
            <a:r>
              <a:rPr lang="en-US" sz="3577" i="true" b="true">
                <a:solidFill>
                  <a:srgbClr val="3F4E5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lang="</a:t>
            </a:r>
            <a:r>
              <a:rPr lang="en-US" sz="3577" i="true" b="true">
                <a:solidFill>
                  <a:srgbClr val="17443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en"</a:t>
            </a: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&lt;head&gt;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&lt;title&gt;</a:t>
            </a:r>
            <a:r>
              <a:rPr lang="en-US" sz="3577" i="true" b="true">
                <a:solidFill>
                  <a:srgbClr val="3F4E5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Thank You</a:t>
            </a: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&lt;/title&gt;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&lt;/head&gt;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&lt;body&gt;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&lt;main&gt;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</a:t>
            </a:r>
            <a:r>
              <a:rPr lang="en-US" sz="3577" i="true" b="true">
                <a:solidFill>
                  <a:srgbClr val="3F4E5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p&gt;Keep learning and building.</a:t>
            </a: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&lt;/p&gt;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&lt;/main&gt;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&lt;/body&gt;</a:t>
            </a:r>
          </a:p>
          <a:p>
            <a:pPr algn="l">
              <a:lnSpc>
                <a:spcPts val="5365"/>
              </a:lnSpc>
            </a:pPr>
            <a:r>
              <a:rPr lang="en-US" sz="3577" i="true" b="true">
                <a:solidFill>
                  <a:srgbClr val="402B31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&lt;/html&gt;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DAHXOfShDqc</dc:identifier>
  <dcterms:modified xsi:type="dcterms:W3CDTF">2011-08-01T06:04:30Z</dcterms:modified>
  <cp:revision>1</cp:revision>
  <dc:title>HTML Web Development</dc:title>
</cp:coreProperties>
</file>